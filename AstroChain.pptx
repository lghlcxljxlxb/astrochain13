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8" r:id="rId3"/>
    <p:sldId id="310" r:id="rId4"/>
    <p:sldId id="292" r:id="rId5"/>
    <p:sldId id="306" r:id="rId6"/>
    <p:sldId id="332" r:id="rId7"/>
    <p:sldId id="289" r:id="rId8"/>
    <p:sldId id="328" r:id="rId9"/>
    <p:sldId id="333" r:id="rId10"/>
    <p:sldId id="334" r:id="rId11"/>
    <p:sldId id="329" r:id="rId12"/>
    <p:sldId id="338" r:id="rId13"/>
    <p:sldId id="339" r:id="rId14"/>
    <p:sldId id="342" r:id="rId15"/>
    <p:sldId id="340" r:id="rId16"/>
    <p:sldId id="343" r:id="rId17"/>
    <p:sldId id="330" r:id="rId18"/>
    <p:sldId id="336" r:id="rId19"/>
    <p:sldId id="331" r:id="rId20"/>
    <p:sldId id="335" r:id="rId21"/>
    <p:sldId id="311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704" y="376"/>
      </p:cViewPr>
      <p:guideLst>
        <p:guide orient="horz" pos="2135"/>
        <p:guide pos="38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0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fld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</a:fld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华文中宋" panose="02010600040101010101" charset="-122"/>
        <a:ea typeface="华文中宋" panose="02010600040101010101" charset="-122"/>
        <a:cs typeface="华文中宋" panose="0201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华文中宋" panose="02010600040101010101" charset="-122"/>
        <a:ea typeface="华文中宋" panose="02010600040101010101" charset="-122"/>
        <a:cs typeface="华文中宋" panose="0201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华文中宋" panose="02010600040101010101" charset="-122"/>
        <a:ea typeface="华文中宋" panose="02010600040101010101" charset="-122"/>
        <a:cs typeface="华文中宋" panose="0201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华文中宋" panose="02010600040101010101" charset="-122"/>
        <a:ea typeface="华文中宋" panose="02010600040101010101" charset="-122"/>
        <a:cs typeface="华文中宋" panose="0201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华文中宋" panose="02010600040101010101" charset="-122"/>
        <a:ea typeface="华文中宋" panose="02010600040101010101" charset="-122"/>
        <a:cs typeface="华文中宋" panose="0201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fld id="{5490F00D-9A8C-4FAD-B17F-3E5E0D9928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defRPr>
            </a:lvl1pPr>
          </a:lstStyle>
          <a:p>
            <a:fld id="{A96E5C30-D41C-4C69-9B61-6C4ADBAA0C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0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microsoft.com/office/2007/relationships/hdphoto" Target="../media/image15.wdp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flipH="1">
            <a:off x="1696085" y="1726565"/>
            <a:ext cx="105232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AstroChain</a:t>
            </a:r>
            <a:r>
              <a:rPr lang="en-US" altLang="zh-CN" sz="6600" dirty="0">
                <a:solidFill>
                  <a:schemeClr val="bg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</a:t>
            </a:r>
            <a:r>
              <a:rPr lang="en-US" altLang="zh-CN" sz="6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——</a:t>
            </a:r>
            <a:r>
              <a:rPr lang="zh-CN" altLang="en-US" sz="6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星链</a:t>
            </a:r>
            <a:endParaRPr lang="zh-CN" altLang="en-US" sz="6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180455" y="4685665"/>
            <a:ext cx="4580255" cy="421640"/>
          </a:xfrm>
          <a:prstGeom prst="roundRect">
            <a:avLst>
              <a:gd name="adj" fmla="val 50000"/>
            </a:avLst>
          </a:prstGeom>
          <a:solidFill>
            <a:srgbClr val="636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项目成员：李嘉璇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李梦真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刘欣潼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高雅凡</a:t>
            </a:r>
            <a:endParaRPr lang="zh-CN" altLang="en-US" sz="16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333365" y="3131820"/>
            <a:ext cx="6414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——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LangChain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的天文教育类大模型应用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flipH="1">
            <a:off x="7574280" y="253365"/>
            <a:ext cx="293941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目录</a:t>
            </a:r>
            <a:endParaRPr lang="zh-CN" altLang="en-US" sz="8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1863224" y="1079108"/>
            <a:ext cx="812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01</a:t>
            </a:r>
            <a:endParaRPr lang="en-US" altLang="zh-CN" sz="4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3171792" y="983858"/>
            <a:ext cx="30523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背景及目标</a:t>
            </a:r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826800" y="2011181"/>
            <a:ext cx="812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02</a:t>
            </a:r>
            <a:endParaRPr lang="en-US" altLang="zh-CN" sz="4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1" name="文本框 8"/>
          <p:cNvSpPr txBox="1"/>
          <p:nvPr>
            <p:custDataLst>
              <p:tags r:id="rId7"/>
            </p:custDataLst>
          </p:nvPr>
        </p:nvSpPr>
        <p:spPr>
          <a:xfrm>
            <a:off x="3175000" y="1956435"/>
            <a:ext cx="4102735" cy="69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成果展示</a:t>
            </a:r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文本框 11"/>
          <p:cNvSpPr txBox="1"/>
          <p:nvPr>
            <p:custDataLst>
              <p:tags r:id="rId8"/>
            </p:custDataLst>
          </p:nvPr>
        </p:nvSpPr>
        <p:spPr>
          <a:xfrm>
            <a:off x="1831474" y="2925999"/>
            <a:ext cx="812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03</a:t>
            </a:r>
            <a:endParaRPr lang="en-US" altLang="zh-CN" sz="4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" name="文本框 17"/>
          <p:cNvSpPr txBox="1"/>
          <p:nvPr>
            <p:custDataLst>
              <p:tags r:id="rId9"/>
            </p:custDataLst>
          </p:nvPr>
        </p:nvSpPr>
        <p:spPr>
          <a:xfrm>
            <a:off x="3203542" y="2849799"/>
            <a:ext cx="30523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关键技术</a:t>
            </a:r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24" name="文本框 25"/>
          <p:cNvSpPr txBox="1"/>
          <p:nvPr>
            <p:custDataLst>
              <p:tags r:id="rId10"/>
            </p:custDataLst>
          </p:nvPr>
        </p:nvSpPr>
        <p:spPr>
          <a:xfrm>
            <a:off x="1838230" y="3816797"/>
            <a:ext cx="812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04</a:t>
            </a:r>
            <a:endParaRPr lang="en-US" altLang="zh-CN" sz="4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7"/>
          <p:cNvSpPr txBox="1"/>
          <p:nvPr>
            <p:custDataLst>
              <p:tags r:id="rId11"/>
            </p:custDataLst>
          </p:nvPr>
        </p:nvSpPr>
        <p:spPr>
          <a:xfrm>
            <a:off x="3175373" y="3769172"/>
            <a:ext cx="30523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未来及展望</a:t>
            </a:r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5"/>
          <p:cNvSpPr txBox="1"/>
          <p:nvPr>
            <p:custDataLst>
              <p:tags r:id="rId12"/>
            </p:custDataLst>
          </p:nvPr>
        </p:nvSpPr>
        <p:spPr>
          <a:xfrm>
            <a:off x="1819180" y="4807397"/>
            <a:ext cx="8128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05</a:t>
            </a:r>
            <a:endParaRPr lang="en-US" altLang="zh-CN" sz="4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文本框 27"/>
          <p:cNvSpPr txBox="1"/>
          <p:nvPr>
            <p:custDataLst>
              <p:tags r:id="rId13"/>
            </p:custDataLst>
          </p:nvPr>
        </p:nvSpPr>
        <p:spPr>
          <a:xfrm>
            <a:off x="3188073" y="4721672"/>
            <a:ext cx="30523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项目分工</a:t>
            </a:r>
            <a:endParaRPr lang="zh-CN" altLang="en-US" sz="2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9"/>
          <p:cNvSpPr txBox="1"/>
          <p:nvPr/>
        </p:nvSpPr>
        <p:spPr>
          <a:xfrm>
            <a:off x="3183255" y="1477645"/>
            <a:ext cx="4434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Background and Objectives</a:t>
            </a:r>
            <a:endParaRPr lang="en-US" altLang="zh-CN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36"/>
          <p:cNvSpPr/>
          <p:nvPr>
            <p:custDataLst>
              <p:tags r:id="rId14"/>
            </p:custDataLst>
          </p:nvPr>
        </p:nvSpPr>
        <p:spPr>
          <a:xfrm rot="5400000">
            <a:off x="2687035" y="1441446"/>
            <a:ext cx="659761" cy="0"/>
          </a:xfrm>
          <a:prstGeom prst="line">
            <a:avLst/>
          </a:prstGeom>
          <a:ln w="254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8" name="AutoShape 36"/>
          <p:cNvSpPr/>
          <p:nvPr>
            <p:custDataLst>
              <p:tags r:id="rId15"/>
            </p:custDataLst>
          </p:nvPr>
        </p:nvSpPr>
        <p:spPr>
          <a:xfrm rot="5400000">
            <a:off x="2693385" y="2381246"/>
            <a:ext cx="659761" cy="0"/>
          </a:xfrm>
          <a:prstGeom prst="line">
            <a:avLst/>
          </a:prstGeom>
          <a:ln w="254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1" name="AutoShape 36"/>
          <p:cNvSpPr/>
          <p:nvPr>
            <p:custDataLst>
              <p:tags r:id="rId16"/>
            </p:custDataLst>
          </p:nvPr>
        </p:nvSpPr>
        <p:spPr>
          <a:xfrm rot="5400000">
            <a:off x="2693385" y="3303266"/>
            <a:ext cx="659761" cy="0"/>
          </a:xfrm>
          <a:prstGeom prst="line">
            <a:avLst/>
          </a:prstGeom>
          <a:ln w="254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2" name="AutoShape 36"/>
          <p:cNvSpPr/>
          <p:nvPr>
            <p:custDataLst>
              <p:tags r:id="rId17"/>
            </p:custDataLst>
          </p:nvPr>
        </p:nvSpPr>
        <p:spPr>
          <a:xfrm rot="5400000">
            <a:off x="2693385" y="4213856"/>
            <a:ext cx="659761" cy="0"/>
          </a:xfrm>
          <a:prstGeom prst="line">
            <a:avLst/>
          </a:prstGeom>
          <a:ln w="254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" name="AutoShape 36"/>
          <p:cNvSpPr/>
          <p:nvPr>
            <p:custDataLst>
              <p:tags r:id="rId18"/>
            </p:custDataLst>
          </p:nvPr>
        </p:nvSpPr>
        <p:spPr>
          <a:xfrm rot="5400000">
            <a:off x="2693385" y="5159371"/>
            <a:ext cx="659761" cy="0"/>
          </a:xfrm>
          <a:prstGeom prst="line">
            <a:avLst/>
          </a:prstGeom>
          <a:ln w="254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" name="文本框 29"/>
          <p:cNvSpPr txBox="1"/>
          <p:nvPr/>
        </p:nvSpPr>
        <p:spPr>
          <a:xfrm>
            <a:off x="3202305" y="2425065"/>
            <a:ext cx="4434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Results Presentation</a:t>
            </a:r>
            <a:endParaRPr lang="en-US" altLang="zh-CN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216910" y="3315970"/>
            <a:ext cx="4434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Core Technologies</a:t>
            </a:r>
            <a:endParaRPr lang="en-US" altLang="zh-CN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31" name="文本框 29"/>
          <p:cNvSpPr txBox="1"/>
          <p:nvPr/>
        </p:nvSpPr>
        <p:spPr>
          <a:xfrm>
            <a:off x="3202305" y="4289425"/>
            <a:ext cx="4434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Future Prospects</a:t>
            </a:r>
            <a:endParaRPr lang="en-US" altLang="zh-CN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37" name="文本框 29"/>
          <p:cNvSpPr txBox="1"/>
          <p:nvPr/>
        </p:nvSpPr>
        <p:spPr>
          <a:xfrm>
            <a:off x="3195955" y="5227955"/>
            <a:ext cx="44342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Project Task Allocation</a:t>
            </a:r>
            <a:endParaRPr lang="en-US" altLang="zh-CN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flipH="1">
            <a:off x="2328578" y="1677641"/>
            <a:ext cx="341125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01</a:t>
            </a:r>
            <a:endParaRPr lang="zh-CN" altLang="en-US" sz="199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9"/>
          <p:cNvSpPr txBox="1"/>
          <p:nvPr/>
        </p:nvSpPr>
        <p:spPr>
          <a:xfrm>
            <a:off x="5372368" y="3213983"/>
            <a:ext cx="53023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Background and Objectives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258068" y="2299867"/>
            <a:ext cx="66017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背景及目标</a:t>
            </a:r>
            <a:endParaRPr lang="zh-CN" altLang="en-US" sz="5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569842" y="247657"/>
            <a:ext cx="3065016" cy="704760"/>
            <a:chOff x="983158" y="215907"/>
            <a:chExt cx="3065016" cy="704760"/>
          </a:xfrm>
        </p:grpSpPr>
        <p:sp>
          <p:nvSpPr>
            <p:cNvPr id="5" name="文本框 4"/>
            <p:cNvSpPr txBox="1"/>
            <p:nvPr/>
          </p:nvSpPr>
          <p:spPr>
            <a:xfrm>
              <a:off x="983158" y="215907"/>
              <a:ext cx="30523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背景及目标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6" name="文本框 29"/>
            <p:cNvSpPr txBox="1"/>
            <p:nvPr/>
          </p:nvSpPr>
          <p:spPr>
            <a:xfrm>
              <a:off x="995858" y="645077"/>
              <a:ext cx="3052316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Arial" panose="020B0604020202020204" pitchFamily="34" charset="0"/>
                </a:rPr>
                <a:t>Background and Objectives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1353185"/>
            <a:ext cx="7738745" cy="3952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4490" y="1997075"/>
            <a:ext cx="6710045" cy="1988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随着科技的发展，天文学作为一门跨学科的科学，日益受到大众的关注。天文教育是全面提升学生科学素养不可或缺的内容，然而，长期以来，我国的天文学普及教育极度贫乏。目前，在数、理、化、天、地、生六大自然科学门类中，天文学是唯一没有被独立列于中小学课程体系当中的学科。</a:t>
            </a:r>
            <a:endParaRPr lang="zh-CN" altLang="en-US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因此，本项目旨在开发一款基于大模型的天文教育应用，推动天文教育的普及和发展，特别是在青少年和天文爱好者群体中，助力其更好地理解和探索宇宙奥秘。</a:t>
            </a:r>
            <a:endParaRPr lang="zh-CN" altLang="en-US" sz="1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6003" y="1542915"/>
            <a:ext cx="19861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项目背景</a:t>
            </a:r>
            <a:endParaRPr lang="zh-CN" altLang="en-US" sz="2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54"/>
          <a:stretch>
            <a:fillRect/>
          </a:stretch>
        </p:blipFill>
        <p:spPr>
          <a:xfrm>
            <a:off x="7621905" y="1352550"/>
            <a:ext cx="4570095" cy="395224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364490" y="1997075"/>
            <a:ext cx="6710045" cy="19881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随着科技的发展，天文学作为一门跨学科的科学，日益受到大众的关注。天文教育是全面提升学生科学素养不可或缺的内容，然而，长期以来，我国的天文学普及教育极度贫乏。目前，在数、理、化、天、地、生六大自然科学门类中，天文学是唯一没有被独立列于中小学课程体系当中的学科。</a:t>
            </a:r>
            <a:endParaRPr lang="zh-CN" altLang="en-US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因此，本项目旨在开发一款基于大模型的天文教育应用，推动天文教育的普及和发展，特别是在青少年和天文爱好者群体中，助力其更好地理解和探索宇宙奥秘。</a:t>
            </a:r>
            <a:endParaRPr lang="zh-CN" altLang="en-US" sz="11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26003" y="1542915"/>
            <a:ext cx="19861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项目背景</a:t>
            </a:r>
            <a:endParaRPr lang="zh-CN" altLang="en-US" sz="2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 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93704" y="1738597"/>
            <a:ext cx="2413000" cy="5575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矩形 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5633" y="1738597"/>
            <a:ext cx="2413000" cy="5575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矩形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86848" y="1751297"/>
            <a:ext cx="2413000" cy="55755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1380383" y="179634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天文学习兴趣浓厚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5338039" y="1802699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天文设施缺乏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824515" y="180904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天文知识储备低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" y="2479675"/>
            <a:ext cx="3087370" cy="19107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8345" y="2381885"/>
            <a:ext cx="3298825" cy="1990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rcRect t="2347"/>
          <a:stretch>
            <a:fillRect/>
          </a:stretch>
        </p:blipFill>
        <p:spPr>
          <a:xfrm>
            <a:off x="8157210" y="2362835"/>
            <a:ext cx="3299460" cy="19812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57142" y="3048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背景及目标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文本框 29"/>
          <p:cNvSpPr txBox="1"/>
          <p:nvPr/>
        </p:nvSpPr>
        <p:spPr>
          <a:xfrm>
            <a:off x="4557142" y="6895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Background and Objectives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783740" y="4923461"/>
            <a:ext cx="630096" cy="6300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948205" y="5089158"/>
            <a:ext cx="301164" cy="300649"/>
            <a:chOff x="2431058" y="2713568"/>
            <a:chExt cx="488901" cy="488067"/>
          </a:xfrm>
          <a:solidFill>
            <a:schemeClr val="bg1"/>
          </a:solidFill>
        </p:grpSpPr>
        <p:sp>
          <p:nvSpPr>
            <p:cNvPr id="31" name="自由图形 128"/>
            <p:cNvSpPr/>
            <p:nvPr/>
          </p:nvSpPr>
          <p:spPr bwMode="auto">
            <a:xfrm>
              <a:off x="2431058" y="2713568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35" name="自由图形 129"/>
            <p:cNvSpPr/>
            <p:nvPr/>
          </p:nvSpPr>
          <p:spPr bwMode="auto">
            <a:xfrm>
              <a:off x="2736412" y="2774472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</p:grpSp>
      <p:sp>
        <p:nvSpPr>
          <p:cNvPr id="36" name="椭圆 35"/>
          <p:cNvSpPr/>
          <p:nvPr/>
        </p:nvSpPr>
        <p:spPr>
          <a:xfrm>
            <a:off x="4518765" y="4917111"/>
            <a:ext cx="630096" cy="6300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720951" y="5096254"/>
            <a:ext cx="206600" cy="301161"/>
            <a:chOff x="3483951" y="3689703"/>
            <a:chExt cx="335391" cy="488901"/>
          </a:xfrm>
          <a:solidFill>
            <a:schemeClr val="bg1"/>
          </a:solidFill>
        </p:grpSpPr>
        <p:sp>
          <p:nvSpPr>
            <p:cNvPr id="38" name="自由图形  113"/>
            <p:cNvSpPr/>
            <p:nvPr/>
          </p:nvSpPr>
          <p:spPr bwMode="auto">
            <a:xfrm>
              <a:off x="3483951" y="3689703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39" name="自由图形  114"/>
            <p:cNvSpPr/>
            <p:nvPr/>
          </p:nvSpPr>
          <p:spPr bwMode="auto">
            <a:xfrm>
              <a:off x="3559873" y="3766460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40" name="椭圆 39"/>
          <p:cNvSpPr/>
          <p:nvPr/>
        </p:nvSpPr>
        <p:spPr>
          <a:xfrm>
            <a:off x="8279862" y="4923461"/>
            <a:ext cx="630096" cy="6300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8451039" y="5153728"/>
            <a:ext cx="287740" cy="219094"/>
            <a:chOff x="8622489" y="5534728"/>
            <a:chExt cx="287740" cy="219094"/>
          </a:xfrm>
        </p:grpSpPr>
        <p:sp>
          <p:nvSpPr>
            <p:cNvPr id="42" name="自由图形  35"/>
            <p:cNvSpPr>
              <a:spLocks noChangeArrowheads="1"/>
            </p:cNvSpPr>
            <p:nvPr/>
          </p:nvSpPr>
          <p:spPr bwMode="auto">
            <a:xfrm>
              <a:off x="8731555" y="5687741"/>
              <a:ext cx="65760" cy="660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</a:endParaRPr>
            </a:p>
          </p:txBody>
        </p:sp>
        <p:sp>
          <p:nvSpPr>
            <p:cNvPr id="43" name="自由图形 36"/>
            <p:cNvSpPr/>
            <p:nvPr/>
          </p:nvSpPr>
          <p:spPr bwMode="auto">
            <a:xfrm>
              <a:off x="8685362" y="5626472"/>
              <a:ext cx="161353" cy="67364"/>
            </a:xfrm>
            <a:custGeom>
              <a:avLst/>
              <a:gdLst>
                <a:gd name="T0" fmla="*/ 105 w 213"/>
                <a:gd name="T1" fmla="*/ 31 h 89"/>
                <a:gd name="T2" fmla="*/ 191 w 213"/>
                <a:gd name="T3" fmla="*/ 89 h 89"/>
                <a:gd name="T4" fmla="*/ 213 w 213"/>
                <a:gd name="T5" fmla="*/ 64 h 89"/>
                <a:gd name="T6" fmla="*/ 105 w 213"/>
                <a:gd name="T7" fmla="*/ 0 h 89"/>
                <a:gd name="T8" fmla="*/ 0 w 213"/>
                <a:gd name="T9" fmla="*/ 58 h 89"/>
                <a:gd name="T10" fmla="*/ 21 w 213"/>
                <a:gd name="T11" fmla="*/ 82 h 89"/>
                <a:gd name="T12" fmla="*/ 105 w 213"/>
                <a:gd name="T13" fmla="*/ 3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3" h="89">
                  <a:moveTo>
                    <a:pt x="105" y="31"/>
                  </a:moveTo>
                  <a:cubicBezTo>
                    <a:pt x="144" y="31"/>
                    <a:pt x="177" y="54"/>
                    <a:pt x="191" y="89"/>
                  </a:cubicBezTo>
                  <a:cubicBezTo>
                    <a:pt x="213" y="64"/>
                    <a:pt x="213" y="64"/>
                    <a:pt x="213" y="64"/>
                  </a:cubicBezTo>
                  <a:cubicBezTo>
                    <a:pt x="192" y="26"/>
                    <a:pt x="152" y="0"/>
                    <a:pt x="105" y="0"/>
                  </a:cubicBezTo>
                  <a:cubicBezTo>
                    <a:pt x="61" y="0"/>
                    <a:pt x="22" y="23"/>
                    <a:pt x="0" y="58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37" y="51"/>
                    <a:pt x="68" y="31"/>
                    <a:pt x="105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</a:endParaRPr>
            </a:p>
          </p:txBody>
        </p:sp>
        <p:sp>
          <p:nvSpPr>
            <p:cNvPr id="44" name="自由图形  37"/>
            <p:cNvSpPr/>
            <p:nvPr/>
          </p:nvSpPr>
          <p:spPr bwMode="auto">
            <a:xfrm>
              <a:off x="8657133" y="5581883"/>
              <a:ext cx="218451" cy="77950"/>
            </a:xfrm>
            <a:custGeom>
              <a:avLst/>
              <a:gdLst>
                <a:gd name="T0" fmla="*/ 142 w 288"/>
                <a:gd name="T1" fmla="*/ 34 h 103"/>
                <a:gd name="T2" fmla="*/ 264 w 288"/>
                <a:gd name="T3" fmla="*/ 103 h 103"/>
                <a:gd name="T4" fmla="*/ 288 w 288"/>
                <a:gd name="T5" fmla="*/ 76 h 103"/>
                <a:gd name="T6" fmla="*/ 142 w 288"/>
                <a:gd name="T7" fmla="*/ 0 h 103"/>
                <a:gd name="T8" fmla="*/ 0 w 288"/>
                <a:gd name="T9" fmla="*/ 71 h 103"/>
                <a:gd name="T10" fmla="*/ 23 w 288"/>
                <a:gd name="T11" fmla="*/ 97 h 103"/>
                <a:gd name="T12" fmla="*/ 142 w 288"/>
                <a:gd name="T13" fmla="*/ 3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03">
                  <a:moveTo>
                    <a:pt x="142" y="34"/>
                  </a:moveTo>
                  <a:cubicBezTo>
                    <a:pt x="194" y="34"/>
                    <a:pt x="239" y="62"/>
                    <a:pt x="264" y="103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56" y="30"/>
                    <a:pt x="202" y="0"/>
                    <a:pt x="142" y="0"/>
                  </a:cubicBezTo>
                  <a:cubicBezTo>
                    <a:pt x="84" y="0"/>
                    <a:pt x="32" y="28"/>
                    <a:pt x="0" y="71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49" y="59"/>
                    <a:pt x="93" y="34"/>
                    <a:pt x="142" y="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</a:endParaRPr>
            </a:p>
          </p:txBody>
        </p:sp>
        <p:sp>
          <p:nvSpPr>
            <p:cNvPr id="45" name="自由图形  38"/>
            <p:cNvSpPr/>
            <p:nvPr/>
          </p:nvSpPr>
          <p:spPr bwMode="auto">
            <a:xfrm>
              <a:off x="8622489" y="5534728"/>
              <a:ext cx="287740" cy="91102"/>
            </a:xfrm>
            <a:custGeom>
              <a:avLst/>
              <a:gdLst>
                <a:gd name="T0" fmla="*/ 188 w 380"/>
                <a:gd name="T1" fmla="*/ 36 h 120"/>
                <a:gd name="T2" fmla="*/ 355 w 380"/>
                <a:gd name="T3" fmla="*/ 120 h 120"/>
                <a:gd name="T4" fmla="*/ 380 w 380"/>
                <a:gd name="T5" fmla="*/ 93 h 120"/>
                <a:gd name="T6" fmla="*/ 188 w 380"/>
                <a:gd name="T7" fmla="*/ 0 h 120"/>
                <a:gd name="T8" fmla="*/ 0 w 380"/>
                <a:gd name="T9" fmla="*/ 88 h 120"/>
                <a:gd name="T10" fmla="*/ 25 w 380"/>
                <a:gd name="T11" fmla="*/ 115 h 120"/>
                <a:gd name="T12" fmla="*/ 188 w 380"/>
                <a:gd name="T13" fmla="*/ 3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20">
                  <a:moveTo>
                    <a:pt x="188" y="36"/>
                  </a:moveTo>
                  <a:cubicBezTo>
                    <a:pt x="256" y="36"/>
                    <a:pt x="317" y="69"/>
                    <a:pt x="355" y="120"/>
                  </a:cubicBezTo>
                  <a:cubicBezTo>
                    <a:pt x="380" y="93"/>
                    <a:pt x="380" y="93"/>
                    <a:pt x="380" y="93"/>
                  </a:cubicBezTo>
                  <a:cubicBezTo>
                    <a:pt x="335" y="36"/>
                    <a:pt x="266" y="0"/>
                    <a:pt x="188" y="0"/>
                  </a:cubicBezTo>
                  <a:cubicBezTo>
                    <a:pt x="113" y="0"/>
                    <a:pt x="45" y="34"/>
                    <a:pt x="0" y="88"/>
                  </a:cubicBezTo>
                  <a:cubicBezTo>
                    <a:pt x="25" y="115"/>
                    <a:pt x="25" y="115"/>
                    <a:pt x="25" y="115"/>
                  </a:cubicBezTo>
                  <a:cubicBezTo>
                    <a:pt x="63" y="67"/>
                    <a:pt x="122" y="36"/>
                    <a:pt x="188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5315416" y="4859631"/>
            <a:ext cx="2575489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天文基础设施缺乏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</a:t>
            </a:r>
            <a:r>
              <a:rPr lang="zh-CN" altLang="en-US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教育资源地区间发展不平衡</a:t>
            </a:r>
            <a:endParaRPr lang="zh-CN" altLang="en-US" sz="14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049641" y="4788511"/>
            <a:ext cx="2575489" cy="1060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</a:t>
            </a:r>
            <a:r>
              <a:rPr lang="zh-CN" altLang="en-US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半数以上学生天文知识储备尚未达到《中国公民科学素质基准》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520021" y="4859631"/>
            <a:ext cx="2575489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80.34%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学生重视天文学习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·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学生拥有浓厚的天文求知欲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自由图形 112"/>
          <p:cNvSpPr/>
          <p:nvPr>
            <p:custDataLst>
              <p:tags r:id="rId1"/>
            </p:custDataLst>
          </p:nvPr>
        </p:nvSpPr>
        <p:spPr bwMode="auto">
          <a:xfrm>
            <a:off x="1159609" y="3675778"/>
            <a:ext cx="502751" cy="503612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69842" y="26035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背景及目标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9"/>
          <p:cNvSpPr txBox="1"/>
          <p:nvPr/>
        </p:nvSpPr>
        <p:spPr>
          <a:xfrm>
            <a:off x="4569842" y="64507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Background and Objectives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17550" y="1323975"/>
          <a:ext cx="10786110" cy="4337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255"/>
                <a:gridCol w="4281805"/>
                <a:gridCol w="4083050"/>
              </a:tblGrid>
              <a:tr h="1070610">
                <a:tc>
                  <a:txBody>
                    <a:bodyPr/>
                    <a:p>
                      <a:endParaRPr lang="zh-CN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dirty="0"/>
                        <a:t>对比点</a:t>
                      </a:r>
                      <a:endParaRPr lang="en-US" altLang="zh-CN" sz="2000" dirty="0"/>
                    </a:p>
                    <a:p>
                      <a:pPr algn="ctr"/>
                      <a:endParaRPr lang="en-US" altLang="zh-CN" sz="2000" dirty="0"/>
                    </a:p>
                  </a:txBody>
                  <a:tcPr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endParaRPr lang="zh-CN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AstroChain</a:t>
                      </a:r>
                      <a:endParaRPr lang="en-US" altLang="zh-CN" sz="2000" dirty="0"/>
                    </a:p>
                    <a:p>
                      <a:pPr algn="ctr"/>
                      <a:endParaRPr lang="en-US" altLang="zh-CN" sz="2000" dirty="0"/>
                    </a:p>
                  </a:txBody>
                  <a:tcPr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/>
                        <a:t>市场其他应用</a:t>
                      </a:r>
                      <a:endParaRPr lang="en-US" altLang="zh-CN" sz="2000" dirty="0"/>
                    </a:p>
                    <a:p>
                      <a:pPr algn="ctr"/>
                      <a:endParaRPr lang="en-US" altLang="zh-CN" sz="2000" dirty="0"/>
                    </a:p>
                  </a:txBody>
                  <a:tcPr anchor="b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821055"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学习难度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ko-KR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知识进行分类，结构清晰、系统化</a:t>
                      </a:r>
                      <a:endParaRPr kumimoji="0" lang="zh-CN" altLang="ko-KR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信息繁杂、理解难度大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</a:tr>
              <a:tr h="831850"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ko-KR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互动性</a:t>
                      </a:r>
                      <a:endParaRPr kumimoji="0" lang="zh-CN" altLang="ko-KR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实现智能问答</a:t>
                      </a: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/</a:t>
                      </a: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知识测验功能，互动性强</a:t>
                      </a: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altLang="zh-CN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以教材和文章为主，缺乏互动性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</a:tr>
              <a:tr h="821690"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ko-KR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个性化</a:t>
                      </a:r>
                      <a:endParaRPr kumimoji="0" lang="zh-CN" altLang="ko-KR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根据用户历史信息，实现个性化推荐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缺乏个性化的学习路径和推荐机制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</a:tr>
              <a:tr h="792480"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用户群体</a:t>
                      </a:r>
                      <a:endParaRPr kumimoji="0" lang="zh-CN" altLang="en-US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ko-KR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针对青少年和天文爱好者</a:t>
                      </a:r>
                      <a:endParaRPr kumimoji="0" lang="en-US" altLang="zh-CN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ko-KR" sz="1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较多针对于专业的天文工作者</a:t>
                      </a:r>
                      <a:endParaRPr kumimoji="0" lang="zh-CN" altLang="ko-KR" sz="1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flipH="1">
            <a:off x="2646078" y="1677641"/>
            <a:ext cx="341125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02</a:t>
            </a:r>
            <a:endParaRPr lang="zh-CN" altLang="en-US" sz="199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9"/>
          <p:cNvSpPr txBox="1"/>
          <p:nvPr/>
        </p:nvSpPr>
        <p:spPr>
          <a:xfrm>
            <a:off x="5758448" y="3222238"/>
            <a:ext cx="53023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Results Presentation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575568" y="2299867"/>
            <a:ext cx="66017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成果展示</a:t>
            </a:r>
            <a:endParaRPr lang="zh-CN" altLang="en-US" sz="5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成果展示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Results Presentation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pPr algn="ctr"/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b="1705"/>
          <a:stretch>
            <a:fillRect/>
          </a:stretch>
        </p:blipFill>
        <p:spPr>
          <a:xfrm>
            <a:off x="1490980" y="638175"/>
            <a:ext cx="9091930" cy="583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a4bed2c65bd52a748a9e0f49fd84c0f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25120" y="157480"/>
            <a:ext cx="11762105" cy="654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flipH="1">
            <a:off x="2646078" y="1677641"/>
            <a:ext cx="341125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03</a:t>
            </a:r>
            <a:endParaRPr lang="zh-CN" altLang="en-US" sz="199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9"/>
          <p:cNvSpPr txBox="1"/>
          <p:nvPr/>
        </p:nvSpPr>
        <p:spPr>
          <a:xfrm>
            <a:off x="5872748" y="3213983"/>
            <a:ext cx="53023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Core Technologies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575568" y="2299867"/>
            <a:ext cx="66017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关键技术</a:t>
            </a:r>
            <a:endParaRPr lang="zh-CN" altLang="en-US" sz="5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微信图片_202501100027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865" y="792480"/>
            <a:ext cx="6784975" cy="57835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系统架构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System Architecture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pPr algn="ctr"/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Technical Implementation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7345" y="1142365"/>
            <a:ext cx="2314575" cy="525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0011" y="1206144"/>
            <a:ext cx="1534160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LangChain</a:t>
            </a:r>
            <a:endParaRPr lang="en-US" altLang="zh-CN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50" name="组合 49"/>
          <p:cNvGrpSpPr/>
          <p:nvPr>
            <p:custDataLst>
              <p:tags r:id="rId1"/>
            </p:custDataLst>
          </p:nvPr>
        </p:nvGrpSpPr>
        <p:grpSpPr>
          <a:xfrm>
            <a:off x="4265261" y="2391877"/>
            <a:ext cx="3267780" cy="3267778"/>
            <a:chOff x="4393111" y="2175309"/>
            <a:chExt cx="3407345" cy="3407344"/>
          </a:xfrm>
        </p:grpSpPr>
        <p:sp>
          <p:nvSpPr>
            <p:cNvPr id="51" name="椭圆 50"/>
            <p:cNvSpPr/>
            <p:nvPr>
              <p:custDataLst>
                <p:tags r:id="rId2"/>
              </p:custDataLst>
            </p:nvPr>
          </p:nvSpPr>
          <p:spPr>
            <a:xfrm>
              <a:off x="4393111" y="2175309"/>
              <a:ext cx="3407345" cy="3407344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52" name="椭圆 51"/>
            <p:cNvSpPr/>
            <p:nvPr>
              <p:custDataLst>
                <p:tags r:id="rId3"/>
              </p:custDataLst>
            </p:nvPr>
          </p:nvSpPr>
          <p:spPr>
            <a:xfrm>
              <a:off x="4483858" y="2270835"/>
              <a:ext cx="788122" cy="78812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4716495" y="2429589"/>
              <a:ext cx="322848" cy="470616"/>
              <a:chOff x="4679157" y="2462522"/>
              <a:chExt cx="335391" cy="488901"/>
            </a:xfrm>
          </p:grpSpPr>
          <p:sp>
            <p:nvSpPr>
              <p:cNvPr id="54" name="AutoShape 113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4679157" y="2462522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bg1"/>
              </a:solidFill>
              <a:ln w="12700">
                <a:noFill/>
                <a:prstDash val="solid"/>
                <a:miter lim="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p>
                <a:pPr defTabSz="609600"/>
                <a:endParaRPr lang="en-US" sz="4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中宋" panose="02010600040101010101" charset="-122"/>
                </a:endParaRPr>
              </a:p>
            </p:txBody>
          </p:sp>
          <p:sp>
            <p:nvSpPr>
              <p:cNvPr id="55" name="AutoShape 114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755079" y="2539279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bg1"/>
              </a:solidFill>
              <a:ln w="12700">
                <a:noFill/>
                <a:prstDash val="solid"/>
                <a:miter lim="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50800" tIns="50800" rIns="50800" bIns="50800" anchor="ctr"/>
              <a:p>
                <a:pPr defTabSz="609600"/>
                <a:endParaRPr lang="en-US" sz="4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中宋" panose="02010600040101010101" charset="-122"/>
                </a:endParaRPr>
              </a:p>
            </p:txBody>
          </p:sp>
        </p:grpSp>
        <p:sp>
          <p:nvSpPr>
            <p:cNvPr id="56" name="椭圆 55"/>
            <p:cNvSpPr/>
            <p:nvPr>
              <p:custDataLst>
                <p:tags r:id="rId6"/>
              </p:custDataLst>
            </p:nvPr>
          </p:nvSpPr>
          <p:spPr>
            <a:xfrm>
              <a:off x="6893344" y="2270835"/>
              <a:ext cx="788122" cy="78812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57" name="AutoShape 112"/>
            <p:cNvSpPr/>
            <p:nvPr>
              <p:custDataLst>
                <p:tags r:id="rId7"/>
              </p:custDataLst>
            </p:nvPr>
          </p:nvSpPr>
          <p:spPr bwMode="auto">
            <a:xfrm>
              <a:off x="7052499" y="2429589"/>
              <a:ext cx="469812" cy="470616"/>
            </a:xfrm>
            <a:custGeom>
              <a:avLst/>
              <a:gdLst>
                <a:gd name="T0" fmla="*/ 10510 w 21020"/>
                <a:gd name="T1" fmla="*/ 10800 h 21600"/>
                <a:gd name="T2" fmla="*/ 10510 w 21020"/>
                <a:gd name="T3" fmla="*/ 10800 h 21600"/>
                <a:gd name="T4" fmla="*/ 10510 w 21020"/>
                <a:gd name="T5" fmla="*/ 10800 h 21600"/>
                <a:gd name="T6" fmla="*/ 10510 w 2102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20" h="21600">
                  <a:moveTo>
                    <a:pt x="18846" y="7946"/>
                  </a:moveTo>
                  <a:lnTo>
                    <a:pt x="17740" y="9091"/>
                  </a:lnTo>
                  <a:cubicBezTo>
                    <a:pt x="17740" y="8939"/>
                    <a:pt x="17758" y="8792"/>
                    <a:pt x="17744" y="8636"/>
                  </a:cubicBezTo>
                  <a:cubicBezTo>
                    <a:pt x="17629" y="7331"/>
                    <a:pt x="17036" y="6068"/>
                    <a:pt x="16074" y="5080"/>
                  </a:cubicBezTo>
                  <a:cubicBezTo>
                    <a:pt x="15004" y="3980"/>
                    <a:pt x="13585" y="3348"/>
                    <a:pt x="12180" y="3345"/>
                  </a:cubicBezTo>
                  <a:lnTo>
                    <a:pt x="13268" y="2218"/>
                  </a:lnTo>
                  <a:cubicBezTo>
                    <a:pt x="13812" y="1659"/>
                    <a:pt x="14572" y="1350"/>
                    <a:pt x="15403" y="1350"/>
                  </a:cubicBezTo>
                  <a:cubicBezTo>
                    <a:pt x="16460" y="1350"/>
                    <a:pt x="17546" y="1840"/>
                    <a:pt x="18381" y="2696"/>
                  </a:cubicBezTo>
                  <a:cubicBezTo>
                    <a:pt x="19165" y="3500"/>
                    <a:pt x="19631" y="4499"/>
                    <a:pt x="19698" y="5510"/>
                  </a:cubicBezTo>
                  <a:cubicBezTo>
                    <a:pt x="19760" y="6453"/>
                    <a:pt x="19457" y="7317"/>
                    <a:pt x="18846" y="7946"/>
                  </a:cubicBezTo>
                  <a:moveTo>
                    <a:pt x="5828" y="19329"/>
                  </a:moveTo>
                  <a:cubicBezTo>
                    <a:pt x="5813" y="18424"/>
                    <a:pt x="5454" y="17481"/>
                    <a:pt x="4730" y="16739"/>
                  </a:cubicBezTo>
                  <a:cubicBezTo>
                    <a:pt x="4046" y="16034"/>
                    <a:pt x="3150" y="15628"/>
                    <a:pt x="2257" y="15592"/>
                  </a:cubicBezTo>
                  <a:lnTo>
                    <a:pt x="2911" y="13157"/>
                  </a:lnTo>
                  <a:cubicBezTo>
                    <a:pt x="2959" y="12995"/>
                    <a:pt x="3052" y="12835"/>
                    <a:pt x="3168" y="12695"/>
                  </a:cubicBezTo>
                  <a:cubicBezTo>
                    <a:pt x="4485" y="11726"/>
                    <a:pt x="6512" y="12012"/>
                    <a:pt x="7920" y="13460"/>
                  </a:cubicBezTo>
                  <a:cubicBezTo>
                    <a:pt x="9409" y="14990"/>
                    <a:pt x="9639" y="17230"/>
                    <a:pt x="8492" y="18568"/>
                  </a:cubicBezTo>
                  <a:cubicBezTo>
                    <a:pt x="8416" y="18609"/>
                    <a:pt x="8339" y="18648"/>
                    <a:pt x="8256" y="18675"/>
                  </a:cubicBezTo>
                  <a:cubicBezTo>
                    <a:pt x="8256" y="18675"/>
                    <a:pt x="5828" y="19329"/>
                    <a:pt x="5828" y="19329"/>
                  </a:cubicBezTo>
                  <a:close/>
                  <a:moveTo>
                    <a:pt x="2737" y="20164"/>
                  </a:moveTo>
                  <a:cubicBezTo>
                    <a:pt x="2665" y="20181"/>
                    <a:pt x="2443" y="20239"/>
                    <a:pt x="2291" y="20249"/>
                  </a:cubicBezTo>
                  <a:cubicBezTo>
                    <a:pt x="1751" y="20244"/>
                    <a:pt x="1313" y="19792"/>
                    <a:pt x="1313" y="19237"/>
                  </a:cubicBezTo>
                  <a:cubicBezTo>
                    <a:pt x="1321" y="19124"/>
                    <a:pt x="1365" y="18929"/>
                    <a:pt x="1380" y="18857"/>
                  </a:cubicBezTo>
                  <a:lnTo>
                    <a:pt x="2071" y="16283"/>
                  </a:lnTo>
                  <a:cubicBezTo>
                    <a:pt x="2822" y="16261"/>
                    <a:pt x="3630" y="16562"/>
                    <a:pt x="4265" y="17215"/>
                  </a:cubicBezTo>
                  <a:cubicBezTo>
                    <a:pt x="4911" y="17878"/>
                    <a:pt x="5214" y="18725"/>
                    <a:pt x="5181" y="19504"/>
                  </a:cubicBezTo>
                  <a:cubicBezTo>
                    <a:pt x="5181" y="19504"/>
                    <a:pt x="2737" y="20164"/>
                    <a:pt x="2737" y="20164"/>
                  </a:cubicBezTo>
                  <a:close/>
                  <a:moveTo>
                    <a:pt x="6888" y="11179"/>
                  </a:moveTo>
                  <a:cubicBezTo>
                    <a:pt x="6280" y="10927"/>
                    <a:pt x="5642" y="10783"/>
                    <a:pt x="5004" y="10774"/>
                  </a:cubicBezTo>
                  <a:lnTo>
                    <a:pt x="10063" y="5536"/>
                  </a:lnTo>
                  <a:cubicBezTo>
                    <a:pt x="10838" y="4759"/>
                    <a:pt x="11966" y="4536"/>
                    <a:pt x="13077" y="4819"/>
                  </a:cubicBezTo>
                  <a:cubicBezTo>
                    <a:pt x="13077" y="4819"/>
                    <a:pt x="6888" y="11179"/>
                    <a:pt x="6888" y="11179"/>
                  </a:cubicBezTo>
                  <a:close/>
                  <a:moveTo>
                    <a:pt x="9717" y="13672"/>
                  </a:moveTo>
                  <a:cubicBezTo>
                    <a:pt x="9473" y="13258"/>
                    <a:pt x="9194" y="12859"/>
                    <a:pt x="8848" y="12505"/>
                  </a:cubicBezTo>
                  <a:cubicBezTo>
                    <a:pt x="8447" y="12093"/>
                    <a:pt x="7986" y="11770"/>
                    <a:pt x="7507" y="11498"/>
                  </a:cubicBezTo>
                  <a:lnTo>
                    <a:pt x="13767" y="5064"/>
                  </a:lnTo>
                  <a:cubicBezTo>
                    <a:pt x="14259" y="5288"/>
                    <a:pt x="14729" y="5607"/>
                    <a:pt x="15145" y="6035"/>
                  </a:cubicBezTo>
                  <a:cubicBezTo>
                    <a:pt x="15500" y="6398"/>
                    <a:pt x="15775" y="6806"/>
                    <a:pt x="15987" y="7229"/>
                  </a:cubicBezTo>
                  <a:cubicBezTo>
                    <a:pt x="15987" y="7229"/>
                    <a:pt x="9717" y="13672"/>
                    <a:pt x="9717" y="13672"/>
                  </a:cubicBezTo>
                  <a:close/>
                  <a:moveTo>
                    <a:pt x="10519" y="16061"/>
                  </a:moveTo>
                  <a:cubicBezTo>
                    <a:pt x="10465" y="15452"/>
                    <a:pt x="10298" y="14854"/>
                    <a:pt x="10047" y="14288"/>
                  </a:cubicBezTo>
                  <a:lnTo>
                    <a:pt x="16257" y="7906"/>
                  </a:lnTo>
                  <a:cubicBezTo>
                    <a:pt x="16637" y="9140"/>
                    <a:pt x="16442" y="10429"/>
                    <a:pt x="15610" y="11284"/>
                  </a:cubicBezTo>
                  <a:cubicBezTo>
                    <a:pt x="15604" y="11290"/>
                    <a:pt x="15598" y="11293"/>
                    <a:pt x="15593" y="11298"/>
                  </a:cubicBezTo>
                  <a:lnTo>
                    <a:pt x="15602" y="11306"/>
                  </a:lnTo>
                  <a:lnTo>
                    <a:pt x="10525" y="16565"/>
                  </a:lnTo>
                  <a:cubicBezTo>
                    <a:pt x="10527" y="16397"/>
                    <a:pt x="10534" y="16232"/>
                    <a:pt x="10519" y="16061"/>
                  </a:cubicBezTo>
                  <a:moveTo>
                    <a:pt x="19308" y="1741"/>
                  </a:moveTo>
                  <a:cubicBezTo>
                    <a:pt x="18228" y="632"/>
                    <a:pt x="16805" y="0"/>
                    <a:pt x="15403" y="0"/>
                  </a:cubicBezTo>
                  <a:cubicBezTo>
                    <a:pt x="14220" y="0"/>
                    <a:pt x="13131" y="450"/>
                    <a:pt x="12335" y="1266"/>
                  </a:cubicBezTo>
                  <a:lnTo>
                    <a:pt x="9138" y="4577"/>
                  </a:lnTo>
                  <a:cubicBezTo>
                    <a:pt x="9129" y="4585"/>
                    <a:pt x="9118" y="4592"/>
                    <a:pt x="9108" y="4602"/>
                  </a:cubicBezTo>
                  <a:cubicBezTo>
                    <a:pt x="9103" y="4608"/>
                    <a:pt x="9100" y="4614"/>
                    <a:pt x="9095" y="4620"/>
                  </a:cubicBezTo>
                  <a:lnTo>
                    <a:pt x="9096" y="4621"/>
                  </a:lnTo>
                  <a:lnTo>
                    <a:pt x="2310" y="11647"/>
                  </a:lnTo>
                  <a:cubicBezTo>
                    <a:pt x="1998" y="11966"/>
                    <a:pt x="1771" y="12364"/>
                    <a:pt x="1645" y="12797"/>
                  </a:cubicBezTo>
                  <a:lnTo>
                    <a:pt x="102" y="18541"/>
                  </a:lnTo>
                  <a:cubicBezTo>
                    <a:pt x="100" y="18557"/>
                    <a:pt x="0" y="19008"/>
                    <a:pt x="0" y="19237"/>
                  </a:cubicBezTo>
                  <a:cubicBezTo>
                    <a:pt x="0" y="20541"/>
                    <a:pt x="1030" y="21599"/>
                    <a:pt x="2302" y="21599"/>
                  </a:cubicBezTo>
                  <a:cubicBezTo>
                    <a:pt x="2554" y="21599"/>
                    <a:pt x="3044" y="21475"/>
                    <a:pt x="3062" y="21473"/>
                  </a:cubicBezTo>
                  <a:lnTo>
                    <a:pt x="8630" y="19969"/>
                  </a:lnTo>
                  <a:cubicBezTo>
                    <a:pt x="9054" y="19839"/>
                    <a:pt x="9439" y="19604"/>
                    <a:pt x="9750" y="19283"/>
                  </a:cubicBezTo>
                  <a:lnTo>
                    <a:pt x="19776" y="8899"/>
                  </a:lnTo>
                  <a:cubicBezTo>
                    <a:pt x="21600" y="7023"/>
                    <a:pt x="21394" y="3881"/>
                    <a:pt x="19308" y="174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58" name="椭圆 57"/>
            <p:cNvSpPr/>
            <p:nvPr>
              <p:custDataLst>
                <p:tags r:id="rId8"/>
              </p:custDataLst>
            </p:nvPr>
          </p:nvSpPr>
          <p:spPr>
            <a:xfrm>
              <a:off x="6893344" y="4583997"/>
              <a:ext cx="788122" cy="78812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59" name="AutoShape 59"/>
            <p:cNvSpPr/>
            <p:nvPr>
              <p:custDataLst>
                <p:tags r:id="rId9"/>
              </p:custDataLst>
            </p:nvPr>
          </p:nvSpPr>
          <p:spPr bwMode="auto">
            <a:xfrm>
              <a:off x="7052098" y="4743152"/>
              <a:ext cx="470616" cy="469812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10"/>
              </p:custDataLst>
            </p:nvPr>
          </p:nvSpPr>
          <p:spPr>
            <a:xfrm>
              <a:off x="4483858" y="4583997"/>
              <a:ext cx="788122" cy="78812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4642612" y="4743152"/>
              <a:ext cx="470616" cy="469812"/>
              <a:chOff x="1848268" y="2462939"/>
              <a:chExt cx="488901" cy="488067"/>
            </a:xfrm>
            <a:solidFill>
              <a:schemeClr val="bg1"/>
            </a:solidFill>
          </p:grpSpPr>
          <p:sp>
            <p:nvSpPr>
              <p:cNvPr id="62" name="AutoShape 128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1848268" y="2462939"/>
                <a:ext cx="488901" cy="48806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50800" tIns="50800" rIns="50800" bIns="50800" anchor="ctr"/>
              <a:p>
                <a:pPr defTabSz="609600"/>
                <a:endParaRPr lang="en-US" sz="4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中宋" panose="02010600040101010101" charset="-122"/>
                </a:endParaRPr>
              </a:p>
            </p:txBody>
          </p:sp>
          <p:sp>
            <p:nvSpPr>
              <p:cNvPr id="63" name="AutoShape 129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143745" y="2539279"/>
                <a:ext cx="121808" cy="12180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50800" tIns="50800" rIns="50800" bIns="50800" anchor="ctr"/>
              <a:p>
                <a:pPr defTabSz="609600"/>
                <a:endParaRPr lang="en-US" sz="40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中宋" panose="02010600040101010101" charset="-122"/>
                </a:endParaRPr>
              </a:p>
            </p:txBody>
          </p:sp>
        </p:grpSp>
      </p:grpSp>
      <p:sp>
        <p:nvSpPr>
          <p:cNvPr id="64" name="文本框 63"/>
          <p:cNvSpPr txBox="1"/>
          <p:nvPr>
            <p:custDataLst>
              <p:tags r:id="rId13"/>
            </p:custDataLst>
          </p:nvPr>
        </p:nvSpPr>
        <p:spPr>
          <a:xfrm>
            <a:off x="-97155" y="1983105"/>
            <a:ext cx="189103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向量数据库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14"/>
            </p:custDataLst>
          </p:nvPr>
        </p:nvSpPr>
        <p:spPr>
          <a:xfrm>
            <a:off x="7868285" y="1943100"/>
            <a:ext cx="269875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历史感知检索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0" name="椭圆 69"/>
          <p:cNvSpPr/>
          <p:nvPr>
            <p:custDataLst>
              <p:tags r:id="rId15"/>
            </p:custDataLst>
          </p:nvPr>
        </p:nvSpPr>
        <p:spPr>
          <a:xfrm>
            <a:off x="5470825" y="3590222"/>
            <a:ext cx="856649" cy="85664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71" name="组合 70"/>
          <p:cNvGrpSpPr/>
          <p:nvPr>
            <p:custDataLst>
              <p:tags r:id="rId16"/>
            </p:custDataLst>
          </p:nvPr>
        </p:nvGrpSpPr>
        <p:grpSpPr>
          <a:xfrm>
            <a:off x="5649854" y="3776471"/>
            <a:ext cx="498589" cy="498589"/>
            <a:chOff x="4384161" y="2713568"/>
            <a:chExt cx="488067" cy="488067"/>
          </a:xfrm>
          <a:solidFill>
            <a:schemeClr val="bg1"/>
          </a:solidFill>
        </p:grpSpPr>
        <p:sp>
          <p:nvSpPr>
            <p:cNvPr id="72" name="AutoShape 123"/>
            <p:cNvSpPr/>
            <p:nvPr>
              <p:custDataLst>
                <p:tags r:id="rId17"/>
              </p:custDataLst>
            </p:nvPr>
          </p:nvSpPr>
          <p:spPr bwMode="auto">
            <a:xfrm>
              <a:off x="4384161" y="2713568"/>
              <a:ext cx="48806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73" name="AutoShape 124"/>
            <p:cNvSpPr/>
            <p:nvPr>
              <p:custDataLst>
                <p:tags r:id="rId18"/>
              </p:custDataLst>
            </p:nvPr>
          </p:nvSpPr>
          <p:spPr bwMode="auto">
            <a:xfrm>
              <a:off x="4521822" y="2850394"/>
              <a:ext cx="213581" cy="213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74" name="AutoShape 125"/>
            <p:cNvSpPr/>
            <p:nvPr>
              <p:custDataLst>
                <p:tags r:id="rId19"/>
              </p:custDataLst>
            </p:nvPr>
          </p:nvSpPr>
          <p:spPr bwMode="auto">
            <a:xfrm>
              <a:off x="4566875" y="2896280"/>
              <a:ext cx="122643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</p:grpSp>
      <p:sp>
        <p:nvSpPr>
          <p:cNvPr id="75" name="文本框 74"/>
          <p:cNvSpPr txBox="1"/>
          <p:nvPr>
            <p:custDataLst>
              <p:tags r:id="rId20"/>
            </p:custDataLst>
          </p:nvPr>
        </p:nvSpPr>
        <p:spPr>
          <a:xfrm>
            <a:off x="296545" y="2425065"/>
            <a:ext cx="38100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文本向量化：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OpenAIEmbeddings</a:t>
            </a:r>
            <a:r>
              <a:rPr lang="en-US" altLang="zh-CN" sz="1400"/>
              <a:t> </a:t>
            </a:r>
            <a:r>
              <a:rPr lang="zh-CN" altLang="en-US" sz="1400"/>
              <a:t>对文本数据进行向量化</a:t>
            </a:r>
            <a:r>
              <a:rPr lang="zh-CN" sz="1400"/>
              <a:t>。</a:t>
            </a:r>
            <a:endParaRPr lang="zh-CN" altLang="en-US" sz="1400"/>
          </a:p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Chroma </a:t>
            </a:r>
            <a:r>
              <a:rPr lang="zh-CN" altLang="en-US" sz="1400" b="1"/>
              <a:t>向量数据库：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Chroma </a:t>
            </a:r>
            <a:r>
              <a:rPr lang="zh-CN" altLang="en-US" sz="1400"/>
              <a:t>向量数据库来存储和索引文本向量。</a:t>
            </a:r>
            <a:endParaRPr lang="zh-CN" altLang="en-US" sz="1400"/>
          </a:p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文本分割：</a:t>
            </a:r>
            <a:r>
              <a:rPr lang="zh-CN" altLang="en-US" sz="1400"/>
              <a:t>提高基于语义相似度的检索效果。</a:t>
            </a:r>
            <a:endParaRPr lang="zh-CN" altLang="en-US" sz="1400"/>
          </a:p>
        </p:txBody>
      </p:sp>
      <p:sp>
        <p:nvSpPr>
          <p:cNvPr id="76" name="文本框 75"/>
          <p:cNvSpPr txBox="1"/>
          <p:nvPr>
            <p:custDataLst>
              <p:tags r:id="rId21"/>
            </p:custDataLst>
          </p:nvPr>
        </p:nvSpPr>
        <p:spPr>
          <a:xfrm>
            <a:off x="7787005" y="2400935"/>
            <a:ext cx="3752850" cy="1098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·</a:t>
            </a:r>
            <a:r>
              <a:rPr lang="zh-CN" altLang="en-US" sz="1400" b="1">
                <a:sym typeface="+mn-ea"/>
              </a:rPr>
              <a:t>上下文感知</a:t>
            </a:r>
            <a:r>
              <a:rPr lang="zh-CN" altLang="en-US" sz="1400" b="1"/>
              <a:t>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create_history_aware_retriever</a:t>
            </a:r>
            <a:r>
              <a:rPr lang="en-US" altLang="zh-CN" sz="1400"/>
              <a:t> </a:t>
            </a:r>
            <a:r>
              <a:rPr lang="zh-CN" altLang="en-US" sz="1400"/>
              <a:t>方法结合</a:t>
            </a:r>
            <a:r>
              <a:rPr lang="en-US" altLang="zh-CN" sz="1400"/>
              <a:t>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Chroma </a:t>
            </a:r>
            <a:r>
              <a:rPr lang="zh-CN" altLang="en-US" sz="1400"/>
              <a:t>向量数据库，创建了一个支持考虑用户历史对话的检索系统。</a:t>
            </a:r>
            <a:endParaRPr lang="zh-CN" altLang="en-US" sz="1400"/>
          </a:p>
          <a:p>
            <a:r>
              <a:rPr lang="en-US" altLang="zh-CN" sz="1400"/>
              <a:t>·</a:t>
            </a:r>
            <a:r>
              <a:rPr lang="zh-CN" altLang="en-US" sz="1400" b="1"/>
              <a:t>历史对话的作用：</a:t>
            </a:r>
            <a:r>
              <a:rPr lang="zh-CN" altLang="en-US" sz="1400"/>
              <a:t>历史对话与当前的用户查询一同输入到检索系统中。</a:t>
            </a:r>
            <a:endParaRPr lang="zh-CN" altLang="en-US" sz="1400"/>
          </a:p>
        </p:txBody>
      </p:sp>
      <p:sp>
        <p:nvSpPr>
          <p:cNvPr id="77" name="文本框 76"/>
          <p:cNvSpPr txBox="1"/>
          <p:nvPr>
            <p:custDataLst>
              <p:tags r:id="rId22"/>
            </p:custDataLst>
          </p:nvPr>
        </p:nvSpPr>
        <p:spPr>
          <a:xfrm>
            <a:off x="-97155" y="3999230"/>
            <a:ext cx="241173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对话管理与生成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3"/>
            </p:custDataLst>
          </p:nvPr>
        </p:nvSpPr>
        <p:spPr>
          <a:xfrm>
            <a:off x="302895" y="4524375"/>
            <a:ext cx="3810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对话生成：</a:t>
            </a:r>
            <a:r>
              <a:rPr lang="zh-CN" altLang="en-US" sz="1400"/>
              <a:t>调用</a:t>
            </a:r>
            <a:r>
              <a:rPr lang="en-US" altLang="zh-CN" sz="1400"/>
              <a:t>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OpenAI </a:t>
            </a:r>
            <a:r>
              <a:rPr lang="zh-CN" altLang="en-US" sz="1400"/>
              <a:t>的大语言模型，实现动态回答生成。</a:t>
            </a:r>
            <a:endParaRPr lang="zh-CN" altLang="en-US" sz="1400"/>
          </a:p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问题重述：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ChatPromptTemplate </a:t>
            </a:r>
            <a:r>
              <a:rPr lang="zh-CN" altLang="en-US" sz="1400"/>
              <a:t>构造自定义提示模板。</a:t>
            </a:r>
            <a:endParaRPr lang="zh-CN" altLang="en-US" sz="1400"/>
          </a:p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回答格式化：</a:t>
            </a:r>
            <a:r>
              <a:rPr lang="zh-CN" altLang="en-US" sz="1400"/>
              <a:t>生成的回答遵循一定的格式规范，以确保回答简洁且易于理解。</a:t>
            </a:r>
            <a:endParaRPr lang="zh-CN" altLang="en-US" sz="1400"/>
          </a:p>
        </p:txBody>
      </p:sp>
      <p:sp>
        <p:nvSpPr>
          <p:cNvPr id="79" name="文本框 78"/>
          <p:cNvSpPr txBox="1"/>
          <p:nvPr>
            <p:custDataLst>
              <p:tags r:id="rId24"/>
            </p:custDataLst>
          </p:nvPr>
        </p:nvSpPr>
        <p:spPr>
          <a:xfrm>
            <a:off x="7637145" y="3999230"/>
            <a:ext cx="265303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题库生成与教育测验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25"/>
            </p:custDataLst>
          </p:nvPr>
        </p:nvSpPr>
        <p:spPr>
          <a:xfrm>
            <a:off x="7814945" y="4524375"/>
            <a:ext cx="38100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测验题目生成：</a:t>
            </a:r>
            <a:r>
              <a:rPr lang="zh-CN" altLang="en-US" sz="1400"/>
              <a:t>使用</a:t>
            </a:r>
            <a:r>
              <a:rPr lang="en-US" altLang="zh-CN" sz="1400"/>
              <a:t>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ChatOpenAI </a:t>
            </a:r>
            <a:r>
              <a:rPr lang="zh-CN" altLang="en-US" sz="1400"/>
              <a:t>生成基于天文内容的教育测验题目。</a:t>
            </a:r>
            <a:endParaRPr lang="zh-CN" altLang="en-US" sz="1400"/>
          </a:p>
          <a:p>
            <a:pPr indent="0" fontAlgn="auto">
              <a:lnSpc>
                <a:spcPct val="100000"/>
              </a:lnSpc>
            </a:pPr>
            <a:r>
              <a:rPr lang="en-US" altLang="zh-CN" sz="1400"/>
              <a:t>·</a:t>
            </a:r>
            <a:r>
              <a:rPr lang="zh-CN" altLang="en-US" sz="1400" b="1"/>
              <a:t>题目缓存与管理：</a:t>
            </a:r>
            <a:r>
              <a:rPr lang="zh-CN" altLang="en-US" sz="1400"/>
              <a:t>缓存生成的题目，支持基于题目</a:t>
            </a:r>
            <a:r>
              <a:rPr lang="en-US" altLang="zh-CN" sz="1400"/>
              <a:t>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ID </a:t>
            </a:r>
            <a:r>
              <a:rPr lang="zh-CN" altLang="en-US" sz="1400"/>
              <a:t>获取题目详情，并且支持批量生成题目。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Technical Implementation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9095" y="1142365"/>
            <a:ext cx="1755140" cy="525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0011" y="1206144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爬虫技术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260" y="1668145"/>
            <a:ext cx="8206740" cy="21475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75" y="3870960"/>
            <a:ext cx="8436610" cy="237426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75590" y="2026920"/>
            <a:ext cx="2378710" cy="871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3915" y="2247265"/>
            <a:ext cx="1466850" cy="512445"/>
          </a:xfrm>
          <a:prstGeom prst="rect">
            <a:avLst/>
          </a:prstGeom>
        </p:spPr>
        <p:txBody>
          <a:bodyPr wrap="non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异步爬虫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9565" y="4166235"/>
            <a:ext cx="2378710" cy="871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85495" y="4386580"/>
            <a:ext cx="1466850" cy="512445"/>
          </a:xfrm>
          <a:prstGeom prst="rect">
            <a:avLst/>
          </a:prstGeom>
        </p:spPr>
        <p:txBody>
          <a:bodyPr wrap="none">
            <a:noAutofit/>
          </a:bodyPr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自动化爬虫</a:t>
            </a:r>
            <a:endParaRPr lang="zh-CN" altLang="en-US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15595" y="1136015"/>
            <a:ext cx="4523740" cy="525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011" y="1206144"/>
            <a:ext cx="376936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云服务</a:t>
            </a:r>
            <a:r>
              <a:rPr lang="en-US" altLang="zh-CN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——</a:t>
            </a:r>
            <a:r>
              <a:rPr lang="zh-CN" altLang="en-US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阿里云对象存储</a:t>
            </a:r>
            <a:r>
              <a:rPr lang="en-US" altLang="zh-CN" sz="20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OSS</a:t>
            </a:r>
            <a:endParaRPr lang="en-US" altLang="zh-CN" sz="2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22811" y="421447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发展状况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7818140" y="2268409"/>
            <a:ext cx="630096" cy="63009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020326" y="2447552"/>
            <a:ext cx="206600" cy="301161"/>
            <a:chOff x="3483951" y="3689703"/>
            <a:chExt cx="335391" cy="488901"/>
          </a:xfrm>
          <a:solidFill>
            <a:schemeClr val="bg1"/>
          </a:solidFill>
        </p:grpSpPr>
        <p:sp>
          <p:nvSpPr>
            <p:cNvPr id="21" name="任意多边形 113"/>
            <p:cNvSpPr/>
            <p:nvPr/>
          </p:nvSpPr>
          <p:spPr bwMode="auto">
            <a:xfrm>
              <a:off x="3483951" y="3689703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2" name="任意多边形 114"/>
            <p:cNvSpPr/>
            <p:nvPr/>
          </p:nvSpPr>
          <p:spPr bwMode="auto">
            <a:xfrm>
              <a:off x="3559873" y="3766460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7818140" y="3607440"/>
            <a:ext cx="630096" cy="6300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989317" y="3837707"/>
            <a:ext cx="287740" cy="219094"/>
            <a:chOff x="7989317" y="3491198"/>
            <a:chExt cx="287740" cy="219094"/>
          </a:xfrm>
        </p:grpSpPr>
        <p:sp>
          <p:nvSpPr>
            <p:cNvPr id="25" name="圆形 35"/>
            <p:cNvSpPr>
              <a:spLocks noChangeArrowheads="1"/>
            </p:cNvSpPr>
            <p:nvPr/>
          </p:nvSpPr>
          <p:spPr bwMode="auto">
            <a:xfrm>
              <a:off x="8098383" y="3644211"/>
              <a:ext cx="65760" cy="660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华文中宋" panose="02010600040101010101" charset="-122"/>
              </a:endParaRPr>
            </a:p>
          </p:txBody>
        </p:sp>
        <p:sp>
          <p:nvSpPr>
            <p:cNvPr id="26" name="自由图形 36"/>
            <p:cNvSpPr/>
            <p:nvPr/>
          </p:nvSpPr>
          <p:spPr bwMode="auto">
            <a:xfrm>
              <a:off x="8052190" y="3582942"/>
              <a:ext cx="161353" cy="67364"/>
            </a:xfrm>
            <a:custGeom>
              <a:avLst/>
              <a:gdLst>
                <a:gd name="T0" fmla="*/ 105 w 213"/>
                <a:gd name="T1" fmla="*/ 31 h 89"/>
                <a:gd name="T2" fmla="*/ 191 w 213"/>
                <a:gd name="T3" fmla="*/ 89 h 89"/>
                <a:gd name="T4" fmla="*/ 213 w 213"/>
                <a:gd name="T5" fmla="*/ 64 h 89"/>
                <a:gd name="T6" fmla="*/ 105 w 213"/>
                <a:gd name="T7" fmla="*/ 0 h 89"/>
                <a:gd name="T8" fmla="*/ 0 w 213"/>
                <a:gd name="T9" fmla="*/ 58 h 89"/>
                <a:gd name="T10" fmla="*/ 21 w 213"/>
                <a:gd name="T11" fmla="*/ 82 h 89"/>
                <a:gd name="T12" fmla="*/ 105 w 213"/>
                <a:gd name="T13" fmla="*/ 3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3" h="89">
                  <a:moveTo>
                    <a:pt x="105" y="31"/>
                  </a:moveTo>
                  <a:cubicBezTo>
                    <a:pt x="144" y="31"/>
                    <a:pt x="177" y="54"/>
                    <a:pt x="191" y="89"/>
                  </a:cubicBezTo>
                  <a:cubicBezTo>
                    <a:pt x="213" y="64"/>
                    <a:pt x="213" y="64"/>
                    <a:pt x="213" y="64"/>
                  </a:cubicBezTo>
                  <a:cubicBezTo>
                    <a:pt x="192" y="26"/>
                    <a:pt x="152" y="0"/>
                    <a:pt x="105" y="0"/>
                  </a:cubicBezTo>
                  <a:cubicBezTo>
                    <a:pt x="61" y="0"/>
                    <a:pt x="22" y="23"/>
                    <a:pt x="0" y="58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37" y="51"/>
                    <a:pt x="68" y="31"/>
                    <a:pt x="105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华文中宋" panose="02010600040101010101" charset="-122"/>
              </a:endParaRPr>
            </a:p>
          </p:txBody>
        </p:sp>
        <p:sp>
          <p:nvSpPr>
            <p:cNvPr id="27" name="自由图形 37"/>
            <p:cNvSpPr/>
            <p:nvPr/>
          </p:nvSpPr>
          <p:spPr bwMode="auto">
            <a:xfrm>
              <a:off x="8023961" y="3538353"/>
              <a:ext cx="218451" cy="77950"/>
            </a:xfrm>
            <a:custGeom>
              <a:avLst/>
              <a:gdLst>
                <a:gd name="T0" fmla="*/ 142 w 288"/>
                <a:gd name="T1" fmla="*/ 34 h 103"/>
                <a:gd name="T2" fmla="*/ 264 w 288"/>
                <a:gd name="T3" fmla="*/ 103 h 103"/>
                <a:gd name="T4" fmla="*/ 288 w 288"/>
                <a:gd name="T5" fmla="*/ 76 h 103"/>
                <a:gd name="T6" fmla="*/ 142 w 288"/>
                <a:gd name="T7" fmla="*/ 0 h 103"/>
                <a:gd name="T8" fmla="*/ 0 w 288"/>
                <a:gd name="T9" fmla="*/ 71 h 103"/>
                <a:gd name="T10" fmla="*/ 23 w 288"/>
                <a:gd name="T11" fmla="*/ 97 h 103"/>
                <a:gd name="T12" fmla="*/ 142 w 288"/>
                <a:gd name="T13" fmla="*/ 3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03">
                  <a:moveTo>
                    <a:pt x="142" y="34"/>
                  </a:moveTo>
                  <a:cubicBezTo>
                    <a:pt x="194" y="34"/>
                    <a:pt x="239" y="62"/>
                    <a:pt x="264" y="103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56" y="30"/>
                    <a:pt x="202" y="0"/>
                    <a:pt x="142" y="0"/>
                  </a:cubicBezTo>
                  <a:cubicBezTo>
                    <a:pt x="84" y="0"/>
                    <a:pt x="32" y="28"/>
                    <a:pt x="0" y="71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49" y="59"/>
                    <a:pt x="93" y="34"/>
                    <a:pt x="142" y="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华文中宋" panose="02010600040101010101" charset="-122"/>
              </a:endParaRPr>
            </a:p>
          </p:txBody>
        </p:sp>
        <p:sp>
          <p:nvSpPr>
            <p:cNvPr id="28" name="自由图形 38"/>
            <p:cNvSpPr/>
            <p:nvPr/>
          </p:nvSpPr>
          <p:spPr bwMode="auto">
            <a:xfrm>
              <a:off x="7989317" y="3491198"/>
              <a:ext cx="287740" cy="91102"/>
            </a:xfrm>
            <a:custGeom>
              <a:avLst/>
              <a:gdLst>
                <a:gd name="T0" fmla="*/ 188 w 380"/>
                <a:gd name="T1" fmla="*/ 36 h 120"/>
                <a:gd name="T2" fmla="*/ 355 w 380"/>
                <a:gd name="T3" fmla="*/ 120 h 120"/>
                <a:gd name="T4" fmla="*/ 380 w 380"/>
                <a:gd name="T5" fmla="*/ 93 h 120"/>
                <a:gd name="T6" fmla="*/ 188 w 380"/>
                <a:gd name="T7" fmla="*/ 0 h 120"/>
                <a:gd name="T8" fmla="*/ 0 w 380"/>
                <a:gd name="T9" fmla="*/ 88 h 120"/>
                <a:gd name="T10" fmla="*/ 25 w 380"/>
                <a:gd name="T11" fmla="*/ 115 h 120"/>
                <a:gd name="T12" fmla="*/ 188 w 380"/>
                <a:gd name="T13" fmla="*/ 3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20">
                  <a:moveTo>
                    <a:pt x="188" y="36"/>
                  </a:moveTo>
                  <a:cubicBezTo>
                    <a:pt x="256" y="36"/>
                    <a:pt x="317" y="69"/>
                    <a:pt x="355" y="120"/>
                  </a:cubicBezTo>
                  <a:cubicBezTo>
                    <a:pt x="380" y="93"/>
                    <a:pt x="380" y="93"/>
                    <a:pt x="380" y="93"/>
                  </a:cubicBezTo>
                  <a:cubicBezTo>
                    <a:pt x="335" y="36"/>
                    <a:pt x="266" y="0"/>
                    <a:pt x="188" y="0"/>
                  </a:cubicBezTo>
                  <a:cubicBezTo>
                    <a:pt x="113" y="0"/>
                    <a:pt x="45" y="34"/>
                    <a:pt x="0" y="88"/>
                  </a:cubicBezTo>
                  <a:cubicBezTo>
                    <a:pt x="25" y="115"/>
                    <a:pt x="25" y="115"/>
                    <a:pt x="25" y="115"/>
                  </a:cubicBezTo>
                  <a:cubicBezTo>
                    <a:pt x="63" y="67"/>
                    <a:pt x="122" y="36"/>
                    <a:pt x="188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华文中宋" panose="02010600040101010101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8613024" y="2138794"/>
            <a:ext cx="19861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发展状况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613024" y="3493482"/>
            <a:ext cx="19861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发展状况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Technical Implementation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125" y="1993900"/>
            <a:ext cx="9017000" cy="2677160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1156335" y="4859655"/>
            <a:ext cx="10023475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使用阿里云的对象存储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OSS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存储知识库（天文相关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PDF</a:t>
            </a:r>
            <a:r>
              <a:rPr lang="zh-CN" altLang="en-US" sz="16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文件及网页爬取得到的文件）</a:t>
            </a:r>
            <a:r>
              <a:rPr lang="en-US" altLang="zh-CN" sz="14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      </a:t>
            </a:r>
            <a:endParaRPr lang="zh-CN" altLang="en-US" sz="14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259205" y="5630545"/>
            <a:ext cx="350520" cy="374650"/>
            <a:chOff x="2273" y="8887"/>
            <a:chExt cx="552" cy="590"/>
          </a:xfrm>
        </p:grpSpPr>
        <p:sp>
          <p:nvSpPr>
            <p:cNvPr id="7" name="椭圆 6"/>
            <p:cNvSpPr/>
            <p:nvPr/>
          </p:nvSpPr>
          <p:spPr>
            <a:xfrm>
              <a:off x="2273" y="8887"/>
              <a:ext cx="553" cy="59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2466" y="9059"/>
              <a:ext cx="181" cy="283"/>
              <a:chOff x="3483951" y="3689703"/>
              <a:chExt cx="335391" cy="488901"/>
            </a:xfrm>
            <a:solidFill>
              <a:schemeClr val="bg1"/>
            </a:solidFill>
          </p:grpSpPr>
          <p:sp>
            <p:nvSpPr>
              <p:cNvPr id="9" name="任意多边形 113"/>
              <p:cNvSpPr/>
              <p:nvPr/>
            </p:nvSpPr>
            <p:spPr bwMode="auto">
              <a:xfrm>
                <a:off x="3483951" y="3689703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10" name="任意多边形 114"/>
              <p:cNvSpPr/>
              <p:nvPr/>
            </p:nvSpPr>
            <p:spPr bwMode="auto">
              <a:xfrm>
                <a:off x="3559873" y="3766460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1774825" y="5667375"/>
            <a:ext cx="10033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海量数据</a:t>
            </a:r>
            <a:endParaRPr lang="zh-CN" altLang="en-US" sz="1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3625850" y="5636895"/>
            <a:ext cx="350520" cy="374650"/>
            <a:chOff x="2273" y="8887"/>
            <a:chExt cx="552" cy="590"/>
          </a:xfrm>
        </p:grpSpPr>
        <p:sp>
          <p:nvSpPr>
            <p:cNvPr id="38" name="椭圆 37"/>
            <p:cNvSpPr/>
            <p:nvPr/>
          </p:nvSpPr>
          <p:spPr>
            <a:xfrm>
              <a:off x="2273" y="8887"/>
              <a:ext cx="553" cy="59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66" y="9059"/>
              <a:ext cx="181" cy="283"/>
              <a:chOff x="3483951" y="3689703"/>
              <a:chExt cx="335391" cy="488901"/>
            </a:xfrm>
            <a:solidFill>
              <a:schemeClr val="bg1"/>
            </a:solidFill>
          </p:grpSpPr>
          <p:sp>
            <p:nvSpPr>
              <p:cNvPr id="40" name="任意多边形 113"/>
              <p:cNvSpPr/>
              <p:nvPr/>
            </p:nvSpPr>
            <p:spPr bwMode="auto">
              <a:xfrm>
                <a:off x="3483951" y="3689703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41" name="任意多边形 114"/>
              <p:cNvSpPr/>
              <p:nvPr/>
            </p:nvSpPr>
            <p:spPr bwMode="auto">
              <a:xfrm>
                <a:off x="3559873" y="3766460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43" name="文本框 42"/>
          <p:cNvSpPr txBox="1"/>
          <p:nvPr/>
        </p:nvSpPr>
        <p:spPr>
          <a:xfrm>
            <a:off x="3971925" y="5673725"/>
            <a:ext cx="1454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存储高可靠性</a:t>
            </a:r>
            <a:endParaRPr lang="zh-CN" altLang="en-US" sz="1400"/>
          </a:p>
        </p:txBody>
      </p:sp>
      <p:grpSp>
        <p:nvGrpSpPr>
          <p:cNvPr id="44" name="组合 43"/>
          <p:cNvGrpSpPr/>
          <p:nvPr/>
        </p:nvGrpSpPr>
        <p:grpSpPr>
          <a:xfrm>
            <a:off x="6045200" y="5643245"/>
            <a:ext cx="350520" cy="374650"/>
            <a:chOff x="2273" y="8887"/>
            <a:chExt cx="552" cy="590"/>
          </a:xfrm>
        </p:grpSpPr>
        <p:sp>
          <p:nvSpPr>
            <p:cNvPr id="45" name="椭圆 44"/>
            <p:cNvSpPr/>
            <p:nvPr/>
          </p:nvSpPr>
          <p:spPr>
            <a:xfrm>
              <a:off x="2273" y="8887"/>
              <a:ext cx="553" cy="59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2466" y="9059"/>
              <a:ext cx="181" cy="283"/>
              <a:chOff x="3483951" y="3689703"/>
              <a:chExt cx="335391" cy="488901"/>
            </a:xfrm>
            <a:solidFill>
              <a:schemeClr val="bg1"/>
            </a:solidFill>
          </p:grpSpPr>
          <p:sp>
            <p:nvSpPr>
              <p:cNvPr id="47" name="任意多边形 113"/>
              <p:cNvSpPr/>
              <p:nvPr/>
            </p:nvSpPr>
            <p:spPr bwMode="auto">
              <a:xfrm>
                <a:off x="3483951" y="3689703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49" name="任意多边形 114"/>
              <p:cNvSpPr/>
              <p:nvPr/>
            </p:nvSpPr>
            <p:spPr bwMode="auto">
              <a:xfrm>
                <a:off x="3559873" y="3766460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50" name="文本框 49"/>
          <p:cNvSpPr txBox="1"/>
          <p:nvPr/>
        </p:nvSpPr>
        <p:spPr>
          <a:xfrm>
            <a:off x="6391275" y="5680075"/>
            <a:ext cx="1454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数据安全</a:t>
            </a:r>
            <a:endParaRPr lang="zh-CN" altLang="en-US" sz="1400"/>
          </a:p>
        </p:txBody>
      </p:sp>
      <p:grpSp>
        <p:nvGrpSpPr>
          <p:cNvPr id="51" name="组合 50"/>
          <p:cNvGrpSpPr/>
          <p:nvPr/>
        </p:nvGrpSpPr>
        <p:grpSpPr>
          <a:xfrm>
            <a:off x="8394700" y="5643245"/>
            <a:ext cx="350520" cy="374650"/>
            <a:chOff x="2273" y="8887"/>
            <a:chExt cx="552" cy="590"/>
          </a:xfrm>
        </p:grpSpPr>
        <p:sp>
          <p:nvSpPr>
            <p:cNvPr id="52" name="椭圆 51"/>
            <p:cNvSpPr/>
            <p:nvPr/>
          </p:nvSpPr>
          <p:spPr>
            <a:xfrm>
              <a:off x="2273" y="8887"/>
              <a:ext cx="553" cy="591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2466" y="9059"/>
              <a:ext cx="181" cy="283"/>
              <a:chOff x="3483951" y="3689703"/>
              <a:chExt cx="335391" cy="488901"/>
            </a:xfrm>
            <a:solidFill>
              <a:schemeClr val="bg1"/>
            </a:solidFill>
          </p:grpSpPr>
          <p:sp>
            <p:nvSpPr>
              <p:cNvPr id="54" name="任意多边形 113"/>
              <p:cNvSpPr/>
              <p:nvPr/>
            </p:nvSpPr>
            <p:spPr bwMode="auto">
              <a:xfrm>
                <a:off x="3483951" y="3689703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55" name="任意多边形 114"/>
              <p:cNvSpPr/>
              <p:nvPr/>
            </p:nvSpPr>
            <p:spPr bwMode="auto">
              <a:xfrm>
                <a:off x="3559873" y="3766460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56" name="文本框 55"/>
          <p:cNvSpPr txBox="1"/>
          <p:nvPr/>
        </p:nvSpPr>
        <p:spPr>
          <a:xfrm>
            <a:off x="8734425" y="5680075"/>
            <a:ext cx="1454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 </a:t>
            </a:r>
            <a:r>
              <a:rPr lang="zh-CN" altLang="en-US" sz="1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跨地域存储</a:t>
            </a:r>
            <a:endParaRPr lang="zh-CN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技术实现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4569842" y="6006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Technical Implementation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8145" y="1034415"/>
            <a:ext cx="3177540" cy="525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React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结合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Chakra UI</a:t>
            </a:r>
            <a:endParaRPr lang="en-US" altLang="zh-CN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4655" y="1876863"/>
            <a:ext cx="4523874" cy="19828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4655" y="3859667"/>
            <a:ext cx="4523874" cy="19828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6506" y="1968779"/>
            <a:ext cx="952500" cy="46037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2400" dirty="0">
                <a:solidFill>
                  <a:schemeClr val="bg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React 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1975" y="2406015"/>
            <a:ext cx="393700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强调组件化开发、声明式</a:t>
            </a:r>
            <a:r>
              <a:rPr lang="en-US" altLang="zh-CN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UI </a:t>
            </a:r>
            <a:r>
              <a:rPr lang="zh-CN" altLang="en-US" sz="16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以及高效的渲染机制。用户界面是由独立的、可复用的组件组成的。</a:t>
            </a:r>
            <a:endParaRPr lang="zh-CN" altLang="en-US" sz="16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3806" y="4012543"/>
            <a:ext cx="1248410" cy="39878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华文中宋" panose="02010600040101010101" charset="-122"/>
                <a:cs typeface="阿里巴巴普惠体 R" panose="00020600040101010101" pitchFamily="18" charset="-122"/>
              </a:rPr>
              <a:t>Chakra UI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华文中宋" panose="02010600040101010101" charset="-122"/>
              <a:cs typeface="阿里巴巴普惠体 R" panose="00020600040101010101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1975" y="4390390"/>
            <a:ext cx="383032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提供许多预制的组件，可以直接用于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React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应用程序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快速构建响应式、可访问的应用界面，简化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 UI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开发过程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185410" y="4172585"/>
            <a:ext cx="629920" cy="629920"/>
            <a:chOff x="12312" y="7790"/>
            <a:chExt cx="992" cy="992"/>
          </a:xfrm>
        </p:grpSpPr>
        <p:sp>
          <p:nvSpPr>
            <p:cNvPr id="17" name="椭圆 16"/>
            <p:cNvSpPr/>
            <p:nvPr/>
          </p:nvSpPr>
          <p:spPr>
            <a:xfrm>
              <a:off x="12312" y="7790"/>
              <a:ext cx="992" cy="99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  <p:sp>
          <p:nvSpPr>
            <p:cNvPr id="18" name="任意多边形 59"/>
            <p:cNvSpPr/>
            <p:nvPr/>
          </p:nvSpPr>
          <p:spPr bwMode="auto">
            <a:xfrm>
              <a:off x="12533" y="8049"/>
              <a:ext cx="474" cy="473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lt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185410" y="1463675"/>
            <a:ext cx="629920" cy="629920"/>
            <a:chOff x="12312" y="3572"/>
            <a:chExt cx="992" cy="992"/>
          </a:xfrm>
        </p:grpSpPr>
        <p:sp>
          <p:nvSpPr>
            <p:cNvPr id="19" name="椭圆 18"/>
            <p:cNvSpPr/>
            <p:nvPr/>
          </p:nvSpPr>
          <p:spPr>
            <a:xfrm>
              <a:off x="12312" y="3572"/>
              <a:ext cx="992" cy="99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12630" y="3854"/>
              <a:ext cx="325" cy="474"/>
              <a:chOff x="3483951" y="3689703"/>
              <a:chExt cx="335391" cy="488901"/>
            </a:xfrm>
            <a:solidFill>
              <a:schemeClr val="bg1"/>
            </a:solidFill>
          </p:grpSpPr>
          <p:sp>
            <p:nvSpPr>
              <p:cNvPr id="21" name="任意多边形 113"/>
              <p:cNvSpPr/>
              <p:nvPr/>
            </p:nvSpPr>
            <p:spPr bwMode="auto">
              <a:xfrm>
                <a:off x="3483951" y="3689703"/>
                <a:ext cx="335391" cy="48890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</a:endParaRPr>
              </a:p>
            </p:txBody>
          </p:sp>
          <p:sp>
            <p:nvSpPr>
              <p:cNvPr id="22" name="任意多边形 114"/>
              <p:cNvSpPr/>
              <p:nvPr/>
            </p:nvSpPr>
            <p:spPr bwMode="auto">
              <a:xfrm>
                <a:off x="3559873" y="3766460"/>
                <a:ext cx="99281" cy="992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5139055" y="2857500"/>
            <a:ext cx="629920" cy="629920"/>
            <a:chOff x="12312" y="5681"/>
            <a:chExt cx="992" cy="992"/>
          </a:xfrm>
        </p:grpSpPr>
        <p:sp>
          <p:nvSpPr>
            <p:cNvPr id="23" name="椭圆 22"/>
            <p:cNvSpPr/>
            <p:nvPr/>
          </p:nvSpPr>
          <p:spPr>
            <a:xfrm>
              <a:off x="12312" y="5681"/>
              <a:ext cx="992" cy="99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2582" y="6044"/>
              <a:ext cx="453" cy="345"/>
              <a:chOff x="7989317" y="3491198"/>
              <a:chExt cx="287740" cy="219094"/>
            </a:xfrm>
          </p:grpSpPr>
          <p:sp>
            <p:nvSpPr>
              <p:cNvPr id="25" name="圆形 35"/>
              <p:cNvSpPr>
                <a:spLocks noChangeArrowheads="1"/>
              </p:cNvSpPr>
              <p:nvPr/>
            </p:nvSpPr>
            <p:spPr bwMode="auto">
              <a:xfrm>
                <a:off x="8098383" y="3644211"/>
                <a:ext cx="65760" cy="6608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en-US" sz="2400" dirty="0">
                  <a:latin typeface="阿里巴巴普惠体 R" panose="00020600040101010101" pitchFamily="18" charset="-122"/>
                </a:endParaRPr>
              </a:p>
            </p:txBody>
          </p:sp>
          <p:sp>
            <p:nvSpPr>
              <p:cNvPr id="26" name="自由图形 36"/>
              <p:cNvSpPr/>
              <p:nvPr/>
            </p:nvSpPr>
            <p:spPr bwMode="auto">
              <a:xfrm>
                <a:off x="8052190" y="3582942"/>
                <a:ext cx="161353" cy="67364"/>
              </a:xfrm>
              <a:custGeom>
                <a:avLst/>
                <a:gdLst>
                  <a:gd name="T0" fmla="*/ 105 w 213"/>
                  <a:gd name="T1" fmla="*/ 31 h 89"/>
                  <a:gd name="T2" fmla="*/ 191 w 213"/>
                  <a:gd name="T3" fmla="*/ 89 h 89"/>
                  <a:gd name="T4" fmla="*/ 213 w 213"/>
                  <a:gd name="T5" fmla="*/ 64 h 89"/>
                  <a:gd name="T6" fmla="*/ 105 w 213"/>
                  <a:gd name="T7" fmla="*/ 0 h 89"/>
                  <a:gd name="T8" fmla="*/ 0 w 213"/>
                  <a:gd name="T9" fmla="*/ 58 h 89"/>
                  <a:gd name="T10" fmla="*/ 21 w 213"/>
                  <a:gd name="T11" fmla="*/ 82 h 89"/>
                  <a:gd name="T12" fmla="*/ 105 w 213"/>
                  <a:gd name="T13" fmla="*/ 31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3" h="89">
                    <a:moveTo>
                      <a:pt x="105" y="31"/>
                    </a:moveTo>
                    <a:cubicBezTo>
                      <a:pt x="144" y="31"/>
                      <a:pt x="177" y="54"/>
                      <a:pt x="191" y="89"/>
                    </a:cubicBezTo>
                    <a:cubicBezTo>
                      <a:pt x="213" y="64"/>
                      <a:pt x="213" y="64"/>
                      <a:pt x="213" y="64"/>
                    </a:cubicBezTo>
                    <a:cubicBezTo>
                      <a:pt x="192" y="26"/>
                      <a:pt x="152" y="0"/>
                      <a:pt x="105" y="0"/>
                    </a:cubicBezTo>
                    <a:cubicBezTo>
                      <a:pt x="61" y="0"/>
                      <a:pt x="22" y="23"/>
                      <a:pt x="0" y="58"/>
                    </a:cubicBezTo>
                    <a:cubicBezTo>
                      <a:pt x="21" y="82"/>
                      <a:pt x="21" y="82"/>
                      <a:pt x="21" y="82"/>
                    </a:cubicBezTo>
                    <a:cubicBezTo>
                      <a:pt x="37" y="51"/>
                      <a:pt x="68" y="31"/>
                      <a:pt x="105" y="3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en-US" sz="2400" dirty="0">
                  <a:latin typeface="阿里巴巴普惠体 R" panose="00020600040101010101" pitchFamily="18" charset="-122"/>
                </a:endParaRPr>
              </a:p>
            </p:txBody>
          </p:sp>
          <p:sp>
            <p:nvSpPr>
              <p:cNvPr id="27" name="自由图形 37"/>
              <p:cNvSpPr/>
              <p:nvPr/>
            </p:nvSpPr>
            <p:spPr bwMode="auto">
              <a:xfrm>
                <a:off x="8023961" y="3538353"/>
                <a:ext cx="218451" cy="77950"/>
              </a:xfrm>
              <a:custGeom>
                <a:avLst/>
                <a:gdLst>
                  <a:gd name="T0" fmla="*/ 142 w 288"/>
                  <a:gd name="T1" fmla="*/ 34 h 103"/>
                  <a:gd name="T2" fmla="*/ 264 w 288"/>
                  <a:gd name="T3" fmla="*/ 103 h 103"/>
                  <a:gd name="T4" fmla="*/ 288 w 288"/>
                  <a:gd name="T5" fmla="*/ 76 h 103"/>
                  <a:gd name="T6" fmla="*/ 142 w 288"/>
                  <a:gd name="T7" fmla="*/ 0 h 103"/>
                  <a:gd name="T8" fmla="*/ 0 w 288"/>
                  <a:gd name="T9" fmla="*/ 71 h 103"/>
                  <a:gd name="T10" fmla="*/ 23 w 288"/>
                  <a:gd name="T11" fmla="*/ 97 h 103"/>
                  <a:gd name="T12" fmla="*/ 142 w 288"/>
                  <a:gd name="T13" fmla="*/ 3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03">
                    <a:moveTo>
                      <a:pt x="142" y="34"/>
                    </a:moveTo>
                    <a:cubicBezTo>
                      <a:pt x="194" y="34"/>
                      <a:pt x="239" y="62"/>
                      <a:pt x="264" y="103"/>
                    </a:cubicBezTo>
                    <a:cubicBezTo>
                      <a:pt x="288" y="76"/>
                      <a:pt x="288" y="76"/>
                      <a:pt x="288" y="76"/>
                    </a:cubicBezTo>
                    <a:cubicBezTo>
                      <a:pt x="256" y="30"/>
                      <a:pt x="202" y="0"/>
                      <a:pt x="142" y="0"/>
                    </a:cubicBezTo>
                    <a:cubicBezTo>
                      <a:pt x="84" y="0"/>
                      <a:pt x="32" y="28"/>
                      <a:pt x="0" y="71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49" y="59"/>
                      <a:pt x="93" y="34"/>
                      <a:pt x="142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en-US" sz="2400" dirty="0">
                  <a:latin typeface="阿里巴巴普惠体 R" panose="00020600040101010101" pitchFamily="18" charset="-122"/>
                </a:endParaRPr>
              </a:p>
            </p:txBody>
          </p:sp>
          <p:sp>
            <p:nvSpPr>
              <p:cNvPr id="28" name="自由图形 38"/>
              <p:cNvSpPr/>
              <p:nvPr/>
            </p:nvSpPr>
            <p:spPr bwMode="auto">
              <a:xfrm>
                <a:off x="7989317" y="3491198"/>
                <a:ext cx="287740" cy="91102"/>
              </a:xfrm>
              <a:custGeom>
                <a:avLst/>
                <a:gdLst>
                  <a:gd name="T0" fmla="*/ 188 w 380"/>
                  <a:gd name="T1" fmla="*/ 36 h 120"/>
                  <a:gd name="T2" fmla="*/ 355 w 380"/>
                  <a:gd name="T3" fmla="*/ 120 h 120"/>
                  <a:gd name="T4" fmla="*/ 380 w 380"/>
                  <a:gd name="T5" fmla="*/ 93 h 120"/>
                  <a:gd name="T6" fmla="*/ 188 w 380"/>
                  <a:gd name="T7" fmla="*/ 0 h 120"/>
                  <a:gd name="T8" fmla="*/ 0 w 380"/>
                  <a:gd name="T9" fmla="*/ 88 h 120"/>
                  <a:gd name="T10" fmla="*/ 25 w 380"/>
                  <a:gd name="T11" fmla="*/ 115 h 120"/>
                  <a:gd name="T12" fmla="*/ 188 w 380"/>
                  <a:gd name="T13" fmla="*/ 3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0" h="120">
                    <a:moveTo>
                      <a:pt x="188" y="36"/>
                    </a:moveTo>
                    <a:cubicBezTo>
                      <a:pt x="256" y="36"/>
                      <a:pt x="317" y="69"/>
                      <a:pt x="355" y="120"/>
                    </a:cubicBezTo>
                    <a:cubicBezTo>
                      <a:pt x="380" y="93"/>
                      <a:pt x="380" y="93"/>
                      <a:pt x="380" y="93"/>
                    </a:cubicBezTo>
                    <a:cubicBezTo>
                      <a:pt x="335" y="36"/>
                      <a:pt x="266" y="0"/>
                      <a:pt x="188" y="0"/>
                    </a:cubicBezTo>
                    <a:cubicBezTo>
                      <a:pt x="113" y="0"/>
                      <a:pt x="45" y="34"/>
                      <a:pt x="0" y="88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63" y="67"/>
                      <a:pt x="122" y="36"/>
                      <a:pt x="188" y="3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p>
                <a:endParaRPr lang="en-US" sz="2400" dirty="0">
                  <a:latin typeface="阿里巴巴普惠体 R" panose="00020600040101010101" pitchFamily="18" charset="-122"/>
                </a:endParaRPr>
              </a:p>
            </p:txBody>
          </p:sp>
        </p:grpSp>
      </p:grpSp>
      <p:sp>
        <p:nvSpPr>
          <p:cNvPr id="35" name="文本框 34"/>
          <p:cNvSpPr txBox="1"/>
          <p:nvPr/>
        </p:nvSpPr>
        <p:spPr>
          <a:xfrm>
            <a:off x="6017260" y="1609090"/>
            <a:ext cx="244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发展状况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组件化设计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8367395" y="1257935"/>
            <a:ext cx="331660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QuizPage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组件负责展示测验题目、控制题目切换</a:t>
            </a:r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管理测验的进度。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QuizCard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组件则专注于渲染单个问题和选项。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75680" y="2988310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状态管理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8367395" y="2828290"/>
            <a:ext cx="347472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currentQuestionIndex 用于追踪当前显示的题目</a:t>
            </a:r>
            <a:endParaRPr lang="en-US" altLang="zh-CN" sz="14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endParaRPr lang="en-US" altLang="zh-CN" sz="14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userAnswers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存储每个问题的答案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467090" y="600710"/>
            <a:ext cx="244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——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以趣味测试为例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066790" y="4322445"/>
            <a:ext cx="125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UI 组件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359140" y="4104005"/>
            <a:ext cx="34747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RadioGroup </a:t>
            </a:r>
            <a:r>
              <a:rPr lang="zh-CN" altLang="en-US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用于展示多个选项</a:t>
            </a:r>
            <a:endParaRPr lang="zh-CN" altLang="en-US" sz="14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endParaRPr lang="en-US" altLang="zh-CN" sz="14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Button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用于提交答案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  <a:p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Progress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显示当前测验进度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166995" y="5498465"/>
            <a:ext cx="656590" cy="603250"/>
            <a:chOff x="1320" y="2464"/>
            <a:chExt cx="1804" cy="1804"/>
          </a:xfrm>
        </p:grpSpPr>
        <p:sp>
          <p:nvSpPr>
            <p:cNvPr id="42" name="圆形   13594"/>
            <p:cNvSpPr/>
            <p:nvPr>
              <p:custDataLst>
                <p:tags r:id="rId1"/>
              </p:custDataLst>
            </p:nvPr>
          </p:nvSpPr>
          <p:spPr>
            <a:xfrm>
              <a:off x="1320" y="2464"/>
              <a:ext cx="1804" cy="180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>
                <a:latin typeface="华文中宋" panose="02010600040101010101" charset="-122"/>
              </a:endParaRPr>
            </a:p>
          </p:txBody>
        </p:sp>
        <p:grpSp>
          <p:nvGrpSpPr>
            <p:cNvPr id="43" name="组合 42"/>
            <p:cNvGrpSpPr/>
            <p:nvPr>
              <p:custDataLst>
                <p:tags r:id="rId2"/>
              </p:custDataLst>
            </p:nvPr>
          </p:nvGrpSpPr>
          <p:grpSpPr>
            <a:xfrm>
              <a:off x="1825" y="2971"/>
              <a:ext cx="793" cy="792"/>
              <a:chOff x="2431058" y="2713568"/>
              <a:chExt cx="488901" cy="488067"/>
            </a:xfrm>
            <a:solidFill>
              <a:schemeClr val="bg1"/>
            </a:solidFill>
          </p:grpSpPr>
          <p:sp>
            <p:nvSpPr>
              <p:cNvPr id="44" name="自由图形128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2431058" y="2713568"/>
                <a:ext cx="488901" cy="48806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  <p:sp>
            <p:nvSpPr>
              <p:cNvPr id="45" name="自由图形 129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2736412" y="2774472"/>
                <a:ext cx="121808" cy="12180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lt1"/>
                  </a:solidFill>
                  <a:latin typeface="华文中宋" panose="02010600040101010101" charset="-122"/>
                  <a:ea typeface="华文中宋" panose="02010600040101010101" charset="-122"/>
                </a:endParaRPr>
              </a:p>
            </p:txBody>
          </p:sp>
        </p:grpSp>
      </p:grpSp>
      <p:sp>
        <p:nvSpPr>
          <p:cNvPr id="47" name="文本框 46"/>
          <p:cNvSpPr txBox="1"/>
          <p:nvPr/>
        </p:nvSpPr>
        <p:spPr>
          <a:xfrm>
            <a:off x="6083935" y="5637530"/>
            <a:ext cx="1428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响应式设计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66760" y="5507355"/>
            <a:ext cx="36804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·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通过</a:t>
            </a:r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SimpleGrid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和</a:t>
            </a:r>
            <a:r>
              <a:rPr lang="en-US" altLang="zh-CN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 </a:t>
            </a:r>
            <a:r>
              <a:rPr lang="en-US" altLang="zh-CN" sz="14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HStack </a:t>
            </a:r>
            <a:r>
              <a:rPr lang="zh-CN" altLang="en-US" sz="1400">
                <a:latin typeface="华文中宋" panose="02010600040101010101" charset="-122"/>
                <a:ea typeface="华文中宋" panose="02010600040101010101" charset="-122"/>
                <a:cs typeface="Times New Roman" panose="02020603050405020304" charset="0"/>
              </a:rPr>
              <a:t>等布局组件，确保应用在各种屏幕尺寸下都能有良好的展示效果。</a:t>
            </a:r>
            <a:endParaRPr lang="zh-CN" altLang="en-US" sz="1400"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5013325" y="3834765"/>
            <a:ext cx="7193280" cy="158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flipH="1">
            <a:off x="2646078" y="1677641"/>
            <a:ext cx="341125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04</a:t>
            </a:r>
            <a:endParaRPr lang="zh-CN" altLang="en-US" sz="199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9"/>
          <p:cNvSpPr txBox="1"/>
          <p:nvPr/>
        </p:nvSpPr>
        <p:spPr>
          <a:xfrm>
            <a:off x="5689600" y="3213735"/>
            <a:ext cx="5302250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Future Prospects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575568" y="2299867"/>
            <a:ext cx="66017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未来及展望</a:t>
            </a:r>
            <a:endParaRPr lang="zh-CN" altLang="en-US" sz="5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头  13593"/>
          <p:cNvSpPr/>
          <p:nvPr>
            <p:custDataLst>
              <p:tags r:id="rId1"/>
            </p:custDataLst>
          </p:nvPr>
        </p:nvSpPr>
        <p:spPr>
          <a:xfrm>
            <a:off x="1098550" y="1269365"/>
            <a:ext cx="4425315" cy="1226820"/>
          </a:xfrm>
          <a:prstGeom prst="rightArrow">
            <a:avLst>
              <a:gd name="adj1" fmla="val 73659"/>
              <a:gd name="adj2" fmla="val 42191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>
              <a:latin typeface="Arial" panose="020B0604020202020204" pitchFamily="34" charset="0"/>
              <a:ea typeface="华文中宋" panose="02010600040101010101" charset="-122"/>
            </a:endParaRPr>
          </a:p>
        </p:txBody>
      </p:sp>
      <p:sp>
        <p:nvSpPr>
          <p:cNvPr id="15" name="圆形   13594"/>
          <p:cNvSpPr/>
          <p:nvPr>
            <p:custDataLst>
              <p:tags r:id="rId2"/>
            </p:custDataLst>
          </p:nvPr>
        </p:nvSpPr>
        <p:spPr>
          <a:xfrm>
            <a:off x="574675" y="1291590"/>
            <a:ext cx="1097915" cy="11455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latin typeface="华文中宋" panose="02010600040101010101" charset="-122"/>
            </a:endParaRPr>
          </a:p>
        </p:txBody>
      </p:sp>
      <p:sp>
        <p:nvSpPr>
          <p:cNvPr id="16" name="箭头  13593"/>
          <p:cNvSpPr/>
          <p:nvPr>
            <p:custDataLst>
              <p:tags r:id="rId3"/>
            </p:custDataLst>
          </p:nvPr>
        </p:nvSpPr>
        <p:spPr>
          <a:xfrm>
            <a:off x="1098550" y="3159125"/>
            <a:ext cx="4425315" cy="1215390"/>
          </a:xfrm>
          <a:prstGeom prst="rightArrow">
            <a:avLst>
              <a:gd name="adj1" fmla="val 73659"/>
              <a:gd name="adj2" fmla="val 42191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>
              <a:latin typeface="Arial" panose="020B0604020202020204" pitchFamily="34" charset="0"/>
              <a:ea typeface="华文中宋" panose="02010600040101010101" charset="-122"/>
            </a:endParaRPr>
          </a:p>
        </p:txBody>
      </p:sp>
      <p:sp>
        <p:nvSpPr>
          <p:cNvPr id="17" name="圆形   13594"/>
          <p:cNvSpPr/>
          <p:nvPr>
            <p:custDataLst>
              <p:tags r:id="rId4"/>
            </p:custDataLst>
          </p:nvPr>
        </p:nvSpPr>
        <p:spPr>
          <a:xfrm>
            <a:off x="575310" y="3170555"/>
            <a:ext cx="1097280" cy="110553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箭头  13593"/>
          <p:cNvSpPr/>
          <p:nvPr>
            <p:custDataLst>
              <p:tags r:id="rId5"/>
            </p:custDataLst>
          </p:nvPr>
        </p:nvSpPr>
        <p:spPr>
          <a:xfrm>
            <a:off x="1098550" y="5022215"/>
            <a:ext cx="4425315" cy="1203960"/>
          </a:xfrm>
          <a:prstGeom prst="rightArrow">
            <a:avLst>
              <a:gd name="adj1" fmla="val 73659"/>
              <a:gd name="adj2" fmla="val 42191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t">
            <a:noAutofit/>
          </a:bodyPr>
          <a:lstStyle/>
          <a:p>
            <a:endParaRPr>
              <a:latin typeface="Arial" panose="020B0604020202020204" pitchFamily="34" charset="0"/>
              <a:ea typeface="华文中宋" panose="02010600040101010101" charset="-122"/>
            </a:endParaRPr>
          </a:p>
        </p:txBody>
      </p:sp>
      <p:sp>
        <p:nvSpPr>
          <p:cNvPr id="19" name="圆形  13594"/>
          <p:cNvSpPr/>
          <p:nvPr>
            <p:custDataLst>
              <p:tags r:id="rId6"/>
            </p:custDataLst>
          </p:nvPr>
        </p:nvSpPr>
        <p:spPr>
          <a:xfrm>
            <a:off x="574675" y="5022215"/>
            <a:ext cx="1097915" cy="114554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 cap="flat">
            <a:noFill/>
            <a:miter lim="400000"/>
          </a:ln>
          <a:effectLst/>
        </p:spPr>
        <p:txBody>
          <a:bodyPr wrap="square" lIns="45720" tIns="45720" rIns="45720" bIns="45720" numCol="1" anchor="t">
            <a:noAutofit/>
          </a:bodyPr>
          <a:lstStyle/>
          <a:p>
            <a:endParaRPr>
              <a:latin typeface="华文中宋" panose="02010600040101010101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848028" y="1613259"/>
            <a:ext cx="503612" cy="502751"/>
            <a:chOff x="2431058" y="2713568"/>
            <a:chExt cx="488901" cy="488067"/>
          </a:xfrm>
          <a:solidFill>
            <a:schemeClr val="bg1"/>
          </a:solidFill>
        </p:grpSpPr>
        <p:sp>
          <p:nvSpPr>
            <p:cNvPr id="21" name="自由图形128"/>
            <p:cNvSpPr/>
            <p:nvPr>
              <p:custDataLst>
                <p:tags r:id="rId8"/>
              </p:custDataLst>
            </p:nvPr>
          </p:nvSpPr>
          <p:spPr bwMode="auto">
            <a:xfrm>
              <a:off x="2431058" y="2713568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22" name="自由图形 129"/>
            <p:cNvSpPr/>
            <p:nvPr>
              <p:custDataLst>
                <p:tags r:id="rId9"/>
              </p:custDataLst>
            </p:nvPr>
          </p:nvSpPr>
          <p:spPr bwMode="auto">
            <a:xfrm>
              <a:off x="2736412" y="2774472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23" name="自由图形 83"/>
          <p:cNvSpPr/>
          <p:nvPr>
            <p:custDataLst>
              <p:tags r:id="rId10"/>
            </p:custDataLst>
          </p:nvPr>
        </p:nvSpPr>
        <p:spPr bwMode="auto">
          <a:xfrm>
            <a:off x="848459" y="5429757"/>
            <a:ext cx="502751" cy="33001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自由图形 112"/>
          <p:cNvSpPr/>
          <p:nvPr>
            <p:custDataLst>
              <p:tags r:id="rId11"/>
            </p:custDataLst>
          </p:nvPr>
        </p:nvSpPr>
        <p:spPr bwMode="auto">
          <a:xfrm>
            <a:off x="848459" y="3491628"/>
            <a:ext cx="502751" cy="503612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766138" y="1613802"/>
            <a:ext cx="30926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知识学习部分实现大模型讲故事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826260" y="5358765"/>
            <a:ext cx="3437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华文中宋" panose="02010600040101010101" charset="-122"/>
                <a:cs typeface="Arial" panose="020B0604020202020204" pitchFamily="34" charset="0"/>
              </a:rPr>
              <a:t>根据用户历史信息实现个性化推荐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69842" y="2159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未来及展望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9"/>
          <p:cNvSpPr txBox="1"/>
          <p:nvPr/>
        </p:nvSpPr>
        <p:spPr>
          <a:xfrm>
            <a:off x="4569842" y="6006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Future Prospects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1832813" y="3453397"/>
            <a:ext cx="30926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使用阿里云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ECS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部署后端应用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29" name="Rectangle 7"/>
          <p:cNvSpPr/>
          <p:nvPr>
            <p:custDataLst>
              <p:tags r:id="rId15"/>
            </p:custDataLst>
          </p:nvPr>
        </p:nvSpPr>
        <p:spPr>
          <a:xfrm>
            <a:off x="5795645" y="1137920"/>
            <a:ext cx="5835015" cy="15513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/>
            <a:endParaRPr lang="en-US" sz="1400" dirty="0">
              <a:solidFill>
                <a:schemeClr val="bg1"/>
              </a:solidFill>
              <a:latin typeface="+mn-ea"/>
              <a:ea typeface="Arial" panose="020B0604020202020204" pitchFamily="34" charset="0"/>
            </a:endParaRPr>
          </a:p>
        </p:txBody>
      </p:sp>
      <p:sp>
        <p:nvSpPr>
          <p:cNvPr id="38" name="Rectangle 7"/>
          <p:cNvSpPr/>
          <p:nvPr>
            <p:custDataLst>
              <p:tags r:id="rId16"/>
            </p:custDataLst>
          </p:nvPr>
        </p:nvSpPr>
        <p:spPr>
          <a:xfrm>
            <a:off x="5809615" y="3052445"/>
            <a:ext cx="5835015" cy="15513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/>
            <a:endParaRPr lang="en-US" sz="1400" dirty="0">
              <a:solidFill>
                <a:schemeClr val="bg1"/>
              </a:solidFill>
              <a:latin typeface="+mn-ea"/>
              <a:ea typeface="Arial" panose="020B0604020202020204" pitchFamily="34" charset="0"/>
            </a:endParaRPr>
          </a:p>
        </p:txBody>
      </p:sp>
      <p:sp>
        <p:nvSpPr>
          <p:cNvPr id="30" name="AutoShape 112"/>
          <p:cNvSpPr/>
          <p:nvPr>
            <p:custDataLst>
              <p:tags r:id="rId17"/>
            </p:custDataLst>
          </p:nvPr>
        </p:nvSpPr>
        <p:spPr bwMode="auto">
          <a:xfrm>
            <a:off x="6018530" y="3589020"/>
            <a:ext cx="440690" cy="45275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33" name="组合 32"/>
          <p:cNvGrpSpPr/>
          <p:nvPr>
            <p:custDataLst>
              <p:tags r:id="rId18"/>
            </p:custDataLst>
          </p:nvPr>
        </p:nvGrpSpPr>
        <p:grpSpPr>
          <a:xfrm>
            <a:off x="6018833" y="1662154"/>
            <a:ext cx="503612" cy="502751"/>
            <a:chOff x="2431058" y="2713568"/>
            <a:chExt cx="488901" cy="488067"/>
          </a:xfrm>
          <a:solidFill>
            <a:schemeClr val="bg1"/>
          </a:solidFill>
        </p:grpSpPr>
        <p:sp>
          <p:nvSpPr>
            <p:cNvPr id="34" name="自由图形128"/>
            <p:cNvSpPr/>
            <p:nvPr>
              <p:custDataLst>
                <p:tags r:id="rId19"/>
              </p:custDataLst>
            </p:nvPr>
          </p:nvSpPr>
          <p:spPr bwMode="auto">
            <a:xfrm>
              <a:off x="2431058" y="2713568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35" name="自由图形 129"/>
            <p:cNvSpPr/>
            <p:nvPr>
              <p:custDataLst>
                <p:tags r:id="rId20"/>
              </p:custDataLst>
            </p:nvPr>
          </p:nvSpPr>
          <p:spPr bwMode="auto">
            <a:xfrm>
              <a:off x="2736412" y="2774472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lt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6637655" y="1257300"/>
            <a:ext cx="4888865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以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Langchain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为基础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，实现一个基于角色扮演的互动学习系统。系统以生动、有趣的故事形式将冷门的天文知识传递给用户。提高学习的有效性和趣味性。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>
          <a:xfrm>
            <a:off x="6624955" y="3205480"/>
            <a:ext cx="4888865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为了提升项目的可用性、可扩展性和稳定性，未来我们计划将后端应用部署到阿里云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ECS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实例上。实现高性能、高可用的后端服务。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1" name="Rectangle 7"/>
          <p:cNvSpPr/>
          <p:nvPr>
            <p:custDataLst>
              <p:tags r:id="rId23"/>
            </p:custDataLst>
          </p:nvPr>
        </p:nvSpPr>
        <p:spPr>
          <a:xfrm>
            <a:off x="5789930" y="4920615"/>
            <a:ext cx="5835015" cy="15513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/>
            <a:endParaRPr lang="en-US" sz="1400" dirty="0">
              <a:solidFill>
                <a:schemeClr val="bg1"/>
              </a:solidFill>
              <a:latin typeface="+mn-ea"/>
              <a:ea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6605270" y="5022215"/>
            <a:ext cx="4888865" cy="1198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为了增强用户体验，我们计划未来在知识学习、趣味测验功能中实现个性化推荐系统。帮助用户在短时间内高效获取他们感兴趣的内容，并促进持续学习。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4" name="自由图形 83"/>
          <p:cNvSpPr/>
          <p:nvPr>
            <p:custDataLst>
              <p:tags r:id="rId25"/>
            </p:custDataLst>
          </p:nvPr>
        </p:nvSpPr>
        <p:spPr bwMode="auto">
          <a:xfrm>
            <a:off x="5956399" y="5525642"/>
            <a:ext cx="502751" cy="33001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flipH="1">
            <a:off x="2646078" y="1677641"/>
            <a:ext cx="3411258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05</a:t>
            </a:r>
            <a:endParaRPr lang="zh-CN" altLang="en-US" sz="199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9"/>
          <p:cNvSpPr txBox="1"/>
          <p:nvPr/>
        </p:nvSpPr>
        <p:spPr>
          <a:xfrm>
            <a:off x="5689868" y="3213983"/>
            <a:ext cx="53023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Project Task Allocation</a:t>
            </a:r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5575568" y="2299867"/>
            <a:ext cx="66017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项目分工</a:t>
            </a:r>
            <a:endParaRPr lang="zh-CN" altLang="en-US" sz="54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4126349" y="2779510"/>
            <a:ext cx="3939307" cy="4079402"/>
            <a:chOff x="7650" y="5495"/>
            <a:chExt cx="4346" cy="4500"/>
          </a:xfrm>
        </p:grpSpPr>
        <p:sp>
          <p:nvSpPr>
            <p:cNvPr id="11" name="Shape 17456"/>
            <p:cNvSpPr/>
            <p:nvPr>
              <p:custDataLst>
                <p:tags r:id="rId2"/>
              </p:custDataLst>
            </p:nvPr>
          </p:nvSpPr>
          <p:spPr>
            <a:xfrm>
              <a:off x="10476" y="6947"/>
              <a:ext cx="1520" cy="10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8" h="21398" extrusionOk="0">
                  <a:moveTo>
                    <a:pt x="20618" y="92"/>
                  </a:moveTo>
                  <a:cubicBezTo>
                    <a:pt x="19743" y="4117"/>
                    <a:pt x="18511" y="7861"/>
                    <a:pt x="16984" y="11254"/>
                  </a:cubicBezTo>
                  <a:cubicBezTo>
                    <a:pt x="15378" y="14819"/>
                    <a:pt x="13380" y="18135"/>
                    <a:pt x="10691" y="19983"/>
                  </a:cubicBezTo>
                  <a:cubicBezTo>
                    <a:pt x="9354" y="20903"/>
                    <a:pt x="7903" y="21385"/>
                    <a:pt x="6435" y="21398"/>
                  </a:cubicBezTo>
                  <a:cubicBezTo>
                    <a:pt x="4429" y="21405"/>
                    <a:pt x="2693" y="20093"/>
                    <a:pt x="1533" y="18013"/>
                  </a:cubicBezTo>
                  <a:cubicBezTo>
                    <a:pt x="1066" y="17178"/>
                    <a:pt x="698" y="16220"/>
                    <a:pt x="445" y="15196"/>
                  </a:cubicBezTo>
                  <a:cubicBezTo>
                    <a:pt x="-982" y="9437"/>
                    <a:pt x="1106" y="2805"/>
                    <a:pt x="5500" y="609"/>
                  </a:cubicBezTo>
                  <a:cubicBezTo>
                    <a:pt x="7107" y="-195"/>
                    <a:pt x="8821" y="-64"/>
                    <a:pt x="10502" y="215"/>
                  </a:cubicBezTo>
                  <a:cubicBezTo>
                    <a:pt x="12355" y="523"/>
                    <a:pt x="14249" y="975"/>
                    <a:pt x="16116" y="982"/>
                  </a:cubicBezTo>
                  <a:cubicBezTo>
                    <a:pt x="17636" y="988"/>
                    <a:pt x="19150" y="688"/>
                    <a:pt x="20618" y="9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dirty="0"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2" name="Shape 17457"/>
            <p:cNvSpPr/>
            <p:nvPr>
              <p:custDataLst>
                <p:tags r:id="rId3"/>
              </p:custDataLst>
            </p:nvPr>
          </p:nvSpPr>
          <p:spPr>
            <a:xfrm>
              <a:off x="9318" y="7124"/>
              <a:ext cx="1336" cy="2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514" extrusionOk="0">
                  <a:moveTo>
                    <a:pt x="3505" y="21514"/>
                  </a:moveTo>
                  <a:cubicBezTo>
                    <a:pt x="4204" y="19842"/>
                    <a:pt x="4504" y="12624"/>
                    <a:pt x="3955" y="10842"/>
                  </a:cubicBezTo>
                  <a:cubicBezTo>
                    <a:pt x="3826" y="10421"/>
                    <a:pt x="3388" y="10077"/>
                    <a:pt x="3159" y="9649"/>
                  </a:cubicBezTo>
                  <a:cubicBezTo>
                    <a:pt x="2962" y="9281"/>
                    <a:pt x="2841" y="8881"/>
                    <a:pt x="2725" y="8490"/>
                  </a:cubicBezTo>
                  <a:cubicBezTo>
                    <a:pt x="2490" y="7696"/>
                    <a:pt x="2438" y="6837"/>
                    <a:pt x="2002" y="6104"/>
                  </a:cubicBezTo>
                  <a:cubicBezTo>
                    <a:pt x="1835" y="5824"/>
                    <a:pt x="1525" y="5531"/>
                    <a:pt x="1278" y="5218"/>
                  </a:cubicBezTo>
                  <a:cubicBezTo>
                    <a:pt x="775" y="4581"/>
                    <a:pt x="408" y="4015"/>
                    <a:pt x="121" y="3310"/>
                  </a:cubicBezTo>
                  <a:cubicBezTo>
                    <a:pt x="20" y="3062"/>
                    <a:pt x="-235" y="2503"/>
                    <a:pt x="555" y="2458"/>
                  </a:cubicBezTo>
                  <a:cubicBezTo>
                    <a:pt x="1783" y="2386"/>
                    <a:pt x="2019" y="3435"/>
                    <a:pt x="2508" y="4059"/>
                  </a:cubicBezTo>
                  <a:cubicBezTo>
                    <a:pt x="2765" y="4387"/>
                    <a:pt x="3053" y="4621"/>
                    <a:pt x="3376" y="4912"/>
                  </a:cubicBezTo>
                  <a:cubicBezTo>
                    <a:pt x="3589" y="5103"/>
                    <a:pt x="3933" y="5738"/>
                    <a:pt x="4462" y="5593"/>
                  </a:cubicBezTo>
                  <a:cubicBezTo>
                    <a:pt x="5152" y="5404"/>
                    <a:pt x="4131" y="4270"/>
                    <a:pt x="4028" y="3957"/>
                  </a:cubicBezTo>
                  <a:cubicBezTo>
                    <a:pt x="3862" y="3453"/>
                    <a:pt x="3976" y="2891"/>
                    <a:pt x="3811" y="2389"/>
                  </a:cubicBezTo>
                  <a:cubicBezTo>
                    <a:pt x="3632" y="1847"/>
                    <a:pt x="2789" y="1112"/>
                    <a:pt x="3593" y="856"/>
                  </a:cubicBezTo>
                  <a:cubicBezTo>
                    <a:pt x="5053" y="390"/>
                    <a:pt x="5622" y="1407"/>
                    <a:pt x="5836" y="2185"/>
                  </a:cubicBezTo>
                  <a:cubicBezTo>
                    <a:pt x="6011" y="2819"/>
                    <a:pt x="6487" y="3552"/>
                    <a:pt x="6632" y="3957"/>
                  </a:cubicBezTo>
                  <a:cubicBezTo>
                    <a:pt x="6770" y="4343"/>
                    <a:pt x="6560" y="4919"/>
                    <a:pt x="7356" y="4912"/>
                  </a:cubicBezTo>
                  <a:cubicBezTo>
                    <a:pt x="7820" y="4670"/>
                    <a:pt x="7573" y="4085"/>
                    <a:pt x="7573" y="3719"/>
                  </a:cubicBezTo>
                  <a:cubicBezTo>
                    <a:pt x="7573" y="3207"/>
                    <a:pt x="7717" y="2404"/>
                    <a:pt x="7717" y="1674"/>
                  </a:cubicBezTo>
                  <a:cubicBezTo>
                    <a:pt x="7717" y="1065"/>
                    <a:pt x="7420" y="64"/>
                    <a:pt x="8658" y="4"/>
                  </a:cubicBezTo>
                  <a:cubicBezTo>
                    <a:pt x="10482" y="-86"/>
                    <a:pt x="9982" y="1526"/>
                    <a:pt x="10105" y="2253"/>
                  </a:cubicBezTo>
                  <a:cubicBezTo>
                    <a:pt x="10235" y="3024"/>
                    <a:pt x="10141" y="3732"/>
                    <a:pt x="10032" y="4366"/>
                  </a:cubicBezTo>
                  <a:cubicBezTo>
                    <a:pt x="10000" y="4554"/>
                    <a:pt x="9729" y="4852"/>
                    <a:pt x="10177" y="4980"/>
                  </a:cubicBezTo>
                  <a:cubicBezTo>
                    <a:pt x="11004" y="4962"/>
                    <a:pt x="10956" y="4371"/>
                    <a:pt x="11118" y="3991"/>
                  </a:cubicBezTo>
                  <a:cubicBezTo>
                    <a:pt x="11294" y="3577"/>
                    <a:pt x="11553" y="3123"/>
                    <a:pt x="11696" y="2798"/>
                  </a:cubicBezTo>
                  <a:cubicBezTo>
                    <a:pt x="11956" y="2212"/>
                    <a:pt x="11780" y="622"/>
                    <a:pt x="13360" y="685"/>
                  </a:cubicBezTo>
                  <a:cubicBezTo>
                    <a:pt x="14252" y="721"/>
                    <a:pt x="14289" y="1202"/>
                    <a:pt x="14229" y="1776"/>
                  </a:cubicBezTo>
                  <a:cubicBezTo>
                    <a:pt x="14177" y="2266"/>
                    <a:pt x="14121" y="2799"/>
                    <a:pt x="14011" y="3241"/>
                  </a:cubicBezTo>
                  <a:cubicBezTo>
                    <a:pt x="13752" y="4286"/>
                    <a:pt x="12994" y="5284"/>
                    <a:pt x="12999" y="6207"/>
                  </a:cubicBezTo>
                  <a:cubicBezTo>
                    <a:pt x="13001" y="6707"/>
                    <a:pt x="13379" y="7404"/>
                    <a:pt x="14229" y="7468"/>
                  </a:cubicBezTo>
                  <a:cubicBezTo>
                    <a:pt x="15130" y="7535"/>
                    <a:pt x="15593" y="7259"/>
                    <a:pt x="16110" y="7025"/>
                  </a:cubicBezTo>
                  <a:cubicBezTo>
                    <a:pt x="17013" y="6615"/>
                    <a:pt x="18046" y="6162"/>
                    <a:pt x="19510" y="6036"/>
                  </a:cubicBezTo>
                  <a:cubicBezTo>
                    <a:pt x="20183" y="5979"/>
                    <a:pt x="21365" y="5946"/>
                    <a:pt x="21246" y="6377"/>
                  </a:cubicBezTo>
                  <a:cubicBezTo>
                    <a:pt x="21170" y="6654"/>
                    <a:pt x="19939" y="6725"/>
                    <a:pt x="19438" y="6922"/>
                  </a:cubicBezTo>
                  <a:cubicBezTo>
                    <a:pt x="19105" y="7053"/>
                    <a:pt x="18942" y="7287"/>
                    <a:pt x="18642" y="7468"/>
                  </a:cubicBezTo>
                  <a:cubicBezTo>
                    <a:pt x="18058" y="7820"/>
                    <a:pt x="17325" y="8094"/>
                    <a:pt x="16833" y="8456"/>
                  </a:cubicBezTo>
                  <a:cubicBezTo>
                    <a:pt x="16578" y="8644"/>
                    <a:pt x="16454" y="8888"/>
                    <a:pt x="16110" y="9070"/>
                  </a:cubicBezTo>
                  <a:cubicBezTo>
                    <a:pt x="15559" y="9361"/>
                    <a:pt x="14659" y="9560"/>
                    <a:pt x="14011" y="9820"/>
                  </a:cubicBezTo>
                  <a:cubicBezTo>
                    <a:pt x="13361" y="10081"/>
                    <a:pt x="12576" y="10374"/>
                    <a:pt x="12058" y="10638"/>
                  </a:cubicBezTo>
                  <a:cubicBezTo>
                    <a:pt x="10613" y="11373"/>
                    <a:pt x="12561" y="20729"/>
                    <a:pt x="12409" y="21514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3" name="Shape 17458"/>
            <p:cNvSpPr/>
            <p:nvPr>
              <p:custDataLst>
                <p:tags r:id="rId4"/>
              </p:custDataLst>
            </p:nvPr>
          </p:nvSpPr>
          <p:spPr>
            <a:xfrm>
              <a:off x="7650" y="6957"/>
              <a:ext cx="1584" cy="10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2" h="21164" extrusionOk="0">
                  <a:moveTo>
                    <a:pt x="0" y="2503"/>
                  </a:moveTo>
                  <a:cubicBezTo>
                    <a:pt x="1160" y="6343"/>
                    <a:pt x="2643" y="9837"/>
                    <a:pt x="4384" y="12926"/>
                  </a:cubicBezTo>
                  <a:cubicBezTo>
                    <a:pt x="6214" y="16174"/>
                    <a:pt x="8404" y="19099"/>
                    <a:pt x="11146" y="20439"/>
                  </a:cubicBezTo>
                  <a:cubicBezTo>
                    <a:pt x="12510" y="21105"/>
                    <a:pt x="13949" y="21316"/>
                    <a:pt x="15369" y="21057"/>
                  </a:cubicBezTo>
                  <a:cubicBezTo>
                    <a:pt x="17307" y="20693"/>
                    <a:pt x="18882" y="19067"/>
                    <a:pt x="19841" y="16784"/>
                  </a:cubicBezTo>
                  <a:cubicBezTo>
                    <a:pt x="20226" y="15868"/>
                    <a:pt x="20507" y="14848"/>
                    <a:pt x="20672" y="13782"/>
                  </a:cubicBezTo>
                  <a:cubicBezTo>
                    <a:pt x="21600" y="7793"/>
                    <a:pt x="19064" y="1587"/>
                    <a:pt x="14647" y="217"/>
                  </a:cubicBezTo>
                  <a:cubicBezTo>
                    <a:pt x="13031" y="-284"/>
                    <a:pt x="11385" y="164"/>
                    <a:pt x="9784" y="752"/>
                  </a:cubicBezTo>
                  <a:cubicBezTo>
                    <a:pt x="8017" y="1401"/>
                    <a:pt x="6222" y="2202"/>
                    <a:pt x="4419" y="2555"/>
                  </a:cubicBezTo>
                  <a:cubicBezTo>
                    <a:pt x="2951" y="2842"/>
                    <a:pt x="1465" y="2824"/>
                    <a:pt x="0" y="250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dirty="0"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4" name="Shape 17459"/>
            <p:cNvSpPr/>
            <p:nvPr>
              <p:custDataLst>
                <p:tags r:id="rId5"/>
              </p:custDataLst>
            </p:nvPr>
          </p:nvSpPr>
          <p:spPr>
            <a:xfrm>
              <a:off x="9860" y="5495"/>
              <a:ext cx="1105" cy="1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81" h="21391" extrusionOk="0">
                  <a:moveTo>
                    <a:pt x="17219" y="0"/>
                  </a:moveTo>
                  <a:cubicBezTo>
                    <a:pt x="18653" y="2593"/>
                    <a:pt x="19541" y="5274"/>
                    <a:pt x="19910" y="7967"/>
                  </a:cubicBezTo>
                  <a:cubicBezTo>
                    <a:pt x="20298" y="10797"/>
                    <a:pt x="20123" y="13753"/>
                    <a:pt x="18357" y="16413"/>
                  </a:cubicBezTo>
                  <a:cubicBezTo>
                    <a:pt x="17479" y="17737"/>
                    <a:pt x="16228" y="18915"/>
                    <a:pt x="14676" y="19861"/>
                  </a:cubicBezTo>
                  <a:cubicBezTo>
                    <a:pt x="12557" y="21152"/>
                    <a:pt x="9945" y="21600"/>
                    <a:pt x="7494" y="21303"/>
                  </a:cubicBezTo>
                  <a:cubicBezTo>
                    <a:pt x="6509" y="21183"/>
                    <a:pt x="5553" y="20943"/>
                    <a:pt x="4689" y="20580"/>
                  </a:cubicBezTo>
                  <a:cubicBezTo>
                    <a:pt x="-140" y="18552"/>
                    <a:pt x="-1302" y="13889"/>
                    <a:pt x="1496" y="9973"/>
                  </a:cubicBezTo>
                  <a:cubicBezTo>
                    <a:pt x="3149" y="7659"/>
                    <a:pt x="5919" y="5974"/>
                    <a:pt x="8689" y="4418"/>
                  </a:cubicBezTo>
                  <a:cubicBezTo>
                    <a:pt x="11422" y="2882"/>
                    <a:pt x="14268" y="1407"/>
                    <a:pt x="17219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5" name="Shape 17460"/>
            <p:cNvSpPr/>
            <p:nvPr>
              <p:custDataLst>
                <p:tags r:id="rId6"/>
              </p:custDataLst>
            </p:nvPr>
          </p:nvSpPr>
          <p:spPr>
            <a:xfrm rot="600000">
              <a:off x="8548" y="5714"/>
              <a:ext cx="1307" cy="1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1" h="21272" extrusionOk="0">
                  <a:moveTo>
                    <a:pt x="17" y="0"/>
                  </a:moveTo>
                  <a:cubicBezTo>
                    <a:pt x="-85" y="3219"/>
                    <a:pt x="287" y="6378"/>
                    <a:pt x="1083" y="9402"/>
                  </a:cubicBezTo>
                  <a:cubicBezTo>
                    <a:pt x="1919" y="12581"/>
                    <a:pt x="3259" y="15735"/>
                    <a:pt x="5759" y="18116"/>
                  </a:cubicBezTo>
                  <a:cubicBezTo>
                    <a:pt x="7003" y="19300"/>
                    <a:pt x="8487" y="20221"/>
                    <a:pt x="10121" y="20804"/>
                  </a:cubicBezTo>
                  <a:cubicBezTo>
                    <a:pt x="12350" y="21600"/>
                    <a:pt x="14634" y="21341"/>
                    <a:pt x="16486" y="20321"/>
                  </a:cubicBezTo>
                  <a:cubicBezTo>
                    <a:pt x="17231" y="19910"/>
                    <a:pt x="17903" y="19377"/>
                    <a:pt x="18451" y="18738"/>
                  </a:cubicBezTo>
                  <a:cubicBezTo>
                    <a:pt x="21515" y="15163"/>
                    <a:pt x="20559" y="9778"/>
                    <a:pt x="16718" y="6330"/>
                  </a:cubicBezTo>
                  <a:cubicBezTo>
                    <a:pt x="14449" y="4293"/>
                    <a:pt x="11536" y="3256"/>
                    <a:pt x="8675" y="2358"/>
                  </a:cubicBezTo>
                  <a:cubicBezTo>
                    <a:pt x="5852" y="1473"/>
                    <a:pt x="2963" y="685"/>
                    <a:pt x="17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>
            <a:off x="5427567" y="3391930"/>
            <a:ext cx="309624" cy="451339"/>
            <a:chOff x="4679157" y="2462522"/>
            <a:chExt cx="335391" cy="488901"/>
          </a:xfrm>
        </p:grpSpPr>
        <p:sp>
          <p:nvSpPr>
            <p:cNvPr id="17" name="AutoShape 113"/>
            <p:cNvSpPr/>
            <p:nvPr>
              <p:custDataLst>
                <p:tags r:id="rId8"/>
              </p:custDataLst>
            </p:nvPr>
          </p:nvSpPr>
          <p:spPr bwMode="auto">
            <a:xfrm>
              <a:off x="4679157" y="2462522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18" name="AutoShape 114"/>
            <p:cNvSpPr/>
            <p:nvPr>
              <p:custDataLst>
                <p:tags r:id="rId9"/>
              </p:custDataLst>
            </p:nvPr>
          </p:nvSpPr>
          <p:spPr bwMode="auto">
            <a:xfrm>
              <a:off x="4755079" y="2539279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</p:grpSp>
      <p:sp>
        <p:nvSpPr>
          <p:cNvPr id="19" name="AutoShape 112"/>
          <p:cNvSpPr/>
          <p:nvPr>
            <p:custDataLst>
              <p:tags r:id="rId10"/>
            </p:custDataLst>
          </p:nvPr>
        </p:nvSpPr>
        <p:spPr bwMode="auto">
          <a:xfrm>
            <a:off x="6969928" y="4302283"/>
            <a:ext cx="450568" cy="451339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</a:endParaRPr>
          </a:p>
        </p:txBody>
      </p:sp>
      <p:sp>
        <p:nvSpPr>
          <p:cNvPr id="20" name="AutoShape 59"/>
          <p:cNvSpPr/>
          <p:nvPr>
            <p:custDataLst>
              <p:tags r:id="rId11"/>
            </p:custDataLst>
          </p:nvPr>
        </p:nvSpPr>
        <p:spPr bwMode="auto">
          <a:xfrm>
            <a:off x="4553106" y="4289779"/>
            <a:ext cx="451340" cy="450568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anose="02010600040101010101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6451550" y="3375269"/>
            <a:ext cx="451340" cy="450568"/>
            <a:chOff x="1848268" y="2462939"/>
            <a:chExt cx="488901" cy="488067"/>
          </a:xfrm>
          <a:solidFill>
            <a:schemeClr val="bg1"/>
          </a:solidFill>
        </p:grpSpPr>
        <p:sp>
          <p:nvSpPr>
            <p:cNvPr id="22" name="AutoShape 128"/>
            <p:cNvSpPr/>
            <p:nvPr>
              <p:custDataLst>
                <p:tags r:id="rId13"/>
              </p:custDataLst>
            </p:nvPr>
          </p:nvSpPr>
          <p:spPr bwMode="auto">
            <a:xfrm>
              <a:off x="1848268" y="2462939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  <p:sp>
          <p:nvSpPr>
            <p:cNvPr id="23" name="AutoShape 129"/>
            <p:cNvSpPr/>
            <p:nvPr>
              <p:custDataLst>
                <p:tags r:id="rId14"/>
              </p:custDataLst>
            </p:nvPr>
          </p:nvSpPr>
          <p:spPr bwMode="auto">
            <a:xfrm>
              <a:off x="2143745" y="2539279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anose="02010600040101010101" charset="-122"/>
              </a:endParaRPr>
            </a:p>
          </p:txBody>
        </p:sp>
      </p:grp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668020" y="2537460"/>
            <a:ext cx="3945255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前端：实现用户界面设计，功能界面设计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2012775" y="1943001"/>
            <a:ext cx="1986132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李嘉璇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(25%)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2012775" y="4516393"/>
            <a:ext cx="1986132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刘欣潼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(25%)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8179540" y="1943001"/>
            <a:ext cx="1986132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李梦真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(25%)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9"/>
            </p:custDataLst>
          </p:nvPr>
        </p:nvSpPr>
        <p:spPr>
          <a:xfrm>
            <a:off x="8192240" y="4516393"/>
            <a:ext cx="1986132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高雅凡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(25%)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63492" y="381007"/>
            <a:ext cx="305231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项目分工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9"/>
          <p:cNvSpPr txBox="1"/>
          <p:nvPr/>
        </p:nvSpPr>
        <p:spPr>
          <a:xfrm>
            <a:off x="4563492" y="765727"/>
            <a:ext cx="305231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Project Task Allocation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0"/>
            </p:custDataLst>
          </p:nvPr>
        </p:nvSpPr>
        <p:spPr>
          <a:xfrm>
            <a:off x="591185" y="5340350"/>
            <a:ext cx="3894455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后端：实现智能问答，趣味测试后端功能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21"/>
            </p:custDataLst>
          </p:nvPr>
        </p:nvSpPr>
        <p:spPr>
          <a:xfrm>
            <a:off x="8166735" y="2573020"/>
            <a:ext cx="3859530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前端：实现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  <a:sym typeface="+mn-ea"/>
              </a:rPr>
              <a:t>用户界面设计，功能界面设计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8198485" y="5308600"/>
            <a:ext cx="3846830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后端：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  <a:sym typeface="+mn-ea"/>
              </a:rPr>
              <a:t>实现智能问答，趣味测试后端功能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 pitchFamily="34" charset="0"/>
              </a:rPr>
              <a:t> 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9000">
                <a:schemeClr val="tx1">
                  <a:alpha val="52000"/>
                </a:schemeClr>
              </a:gs>
              <a:gs pos="76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219263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flipH="1">
            <a:off x="1896745" y="2038350"/>
            <a:ext cx="8397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展示完毕</a:t>
            </a:r>
            <a:r>
              <a:rPr lang="en-US" altLang="zh-CN" sz="6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6000" dirty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感谢您的聆听</a:t>
            </a:r>
            <a:endParaRPr lang="zh-CN" altLang="en-US" sz="6000" dirty="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3940" y="3223895"/>
            <a:ext cx="6896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Thank you for your listening !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矩形: 圆角 10"/>
          <p:cNvSpPr/>
          <p:nvPr/>
        </p:nvSpPr>
        <p:spPr>
          <a:xfrm>
            <a:off x="3564890" y="4461510"/>
            <a:ext cx="4580255" cy="421640"/>
          </a:xfrm>
          <a:prstGeom prst="roundRect">
            <a:avLst>
              <a:gd name="adj" fmla="val 50000"/>
            </a:avLst>
          </a:prstGeom>
          <a:solidFill>
            <a:srgbClr val="636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项目成员：李嘉璇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李梦真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刘欣潼</a:t>
            </a:r>
            <a:r>
              <a:rPr lang="en-US" altLang="zh-CN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160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高雅凡</a:t>
            </a:r>
            <a:endParaRPr lang="zh-CN" altLang="en-US" sz="1600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7.16992125984248,&quot;left&quot;:132.21055118110237,&quot;top&quot;:223.4691338582677,&quot;width&quot;:703.6323622047245}"/>
</p:tagLst>
</file>

<file path=ppt/tags/tag2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3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4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5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6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7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8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9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10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11.xml><?xml version="1.0" encoding="utf-8"?>
<p:tagLst xmlns:p="http://schemas.openxmlformats.org/presentationml/2006/main">
  <p:tag name="KSO_WM_DIAGRAM_VIRTUALLY_FRAME" val="{&quot;height&quot;:363.6699212598425,&quot;left&quot;:128.09251968503935,&quot;top&quot;:86.96913385826764,&quot;width&quot;:707.7503937007874}"/>
</p:tagLst>
</file>

<file path=ppt/tags/tag12.xml><?xml version="1.0" encoding="utf-8"?>
<p:tagLst xmlns:p="http://schemas.openxmlformats.org/presentationml/2006/main">
  <p:tag name="KSO_WM_DIAGRAM_VIRTUALLY_FRAME" val="{&quot;height&quot;:637.9368455152704,&quot;left&quot;:309.80779527559054,&quot;top&quot;:58.32488676819408,&quot;width&quot;:1075.5922047244098}"/>
</p:tagLst>
</file>

<file path=ppt/tags/tag13.xml><?xml version="1.0" encoding="utf-8"?>
<p:tagLst xmlns:p="http://schemas.openxmlformats.org/presentationml/2006/main">
  <p:tag name="KSO_WM_DIAGRAM_VIRTUALLY_FRAME" val="{&quot;height&quot;:637.9368455152704,&quot;left&quot;:309.80779527559054,&quot;top&quot;:58.32488676819408,&quot;width&quot;:1075.5922047244098}"/>
</p:tagLst>
</file>

<file path=ppt/tags/tag14.xml><?xml version="1.0" encoding="utf-8"?>
<p:tagLst xmlns:p="http://schemas.openxmlformats.org/presentationml/2006/main">
  <p:tag name="KSO_WM_DIAGRAM_VIRTUALLY_FRAME" val="{&quot;height&quot;:637.9368455152704,&quot;left&quot;:309.80779527559054,&quot;top&quot;:58.32488676819408,&quot;width&quot;:1075.5922047244098}"/>
</p:tagLst>
</file>

<file path=ppt/tags/tag15.xml><?xml version="1.0" encoding="utf-8"?>
<p:tagLst xmlns:p="http://schemas.openxmlformats.org/presentationml/2006/main">
  <p:tag name="KSO_WM_DIAGRAM_VIRTUALLY_FRAME" val="{&quot;height&quot;:637.9368455152704,&quot;left&quot;:309.80779527559054,&quot;top&quot;:58.32488676819408,&quot;width&quot;:1075.5922047244098}"/>
</p:tagLst>
</file>

<file path=ppt/tags/tag16.xml><?xml version="1.0" encoding="utf-8"?>
<p:tagLst xmlns:p="http://schemas.openxmlformats.org/presentationml/2006/main">
  <p:tag name="KSO_WM_DIAGRAM_VIRTUALLY_FRAME" val="{&quot;height&quot;:637.9368455152704,&quot;left&quot;:309.80779527559054,&quot;top&quot;:58.32488676819408,&quot;width&quot;:1075.5922047244098}"/>
</p:tagLst>
</file>

<file path=ppt/tags/tag17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18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19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20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21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22.xml><?xml version="1.0" encoding="utf-8"?>
<p:tagLst xmlns:p="http://schemas.openxmlformats.org/presentationml/2006/main">
  <p:tag name="KSO_WM_DIAGRAM_VIRTUALLY_FRAME" val="{&quot;height&quot;:322.3875590551181,&quot;left&quot;:103.36645669291337,&quot;top&quot;:137.89740157480315,&quot;width&quot;:762.7633070866143}"/>
</p:tagLst>
</file>

<file path=ppt/tags/tag23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24.xml><?xml version="1.0" encoding="utf-8"?>
<p:tagLst xmlns:p="http://schemas.openxmlformats.org/presentationml/2006/main">
  <p:tag name="KSO_WM_UNIT_TABLE_BEAUTIFY" val="smartTable{dfe5fbc6-d64b-4058-b3d6-49f0bbdd1b22}"/>
  <p:tag name="TABLE_ENDDRAG_ORIGIN_RECT" val="849*341"/>
  <p:tag name="TABLE_ENDDRAG_RECT" val="66*104*849*341"/>
</p:tagLst>
</file>

<file path=ppt/tags/tag25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26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27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28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29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0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1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2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3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4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5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6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7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8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39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0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1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2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3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4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5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6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7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8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49.xml><?xml version="1.0" encoding="utf-8"?>
<p:tagLst xmlns:p="http://schemas.openxmlformats.org/presentationml/2006/main">
  <p:tag name="KSO_WM_DIAGRAM_VIRTUALLY_FRAME" val="{&quot;height&quot;:312.2,&quot;left&quot;:-7.65,&quot;top&quot;:153,&quot;width&quot;:923}"/>
</p:tagLst>
</file>

<file path=ppt/tags/tag50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51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52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53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54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55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56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57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58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59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0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1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2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3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4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5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6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7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68.xml><?xml version="1.0" encoding="utf-8"?>
<p:tagLst xmlns:p="http://schemas.openxmlformats.org/presentationml/2006/main">
  <p:tag name="KSO_WM_DIAGRAM_VIRTUALLY_FRAME" val="{&quot;height&quot;:294.68141732283465,&quot;left&quot;:0,&quot;top&quot;:163.84488188976377,&quot;width&quot;:961.4625196850393}"/>
</p:tagLst>
</file>

<file path=ppt/tags/tag69.xml><?xml version="1.0" encoding="utf-8"?>
<p:tagLst xmlns:p="http://schemas.openxmlformats.org/presentationml/2006/main">
  <p:tag name="KSO_WM_DIAGRAM_VIRTUALLY_FRAME" val="{&quot;height&quot;:294.68141732283465,&quot;left&quot;:0,&quot;top&quot;:163.84488188976377,&quot;width&quot;:961.4625196850393}"/>
</p:tagLst>
</file>

<file path=ppt/tags/tag70.xml><?xml version="1.0" encoding="utf-8"?>
<p:tagLst xmlns:p="http://schemas.openxmlformats.org/presentationml/2006/main">
  <p:tag name="KSO_WM_DIAGRAM_VIRTUALLY_FRAME" val="{&quot;height&quot;:294.68141732283465,&quot;left&quot;:0,&quot;top&quot;:163.84488188976377,&quot;width&quot;:961.4625196850393}"/>
</p:tagLst>
</file>

<file path=ppt/tags/tag71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72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73.xml><?xml version="1.0" encoding="utf-8"?>
<p:tagLst xmlns:p="http://schemas.openxmlformats.org/presentationml/2006/main">
  <p:tag name="KSO_WM_DIAGRAM_VIRTUALLY_FRAME" val="{&quot;height&quot;:386.18212598425197,&quot;left&quot;:66,&quot;top&quot;:118.58598425196851,&quot;width&quot;:401.4084251968504}"/>
</p:tagLst>
</file>

<file path=ppt/tags/tag74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75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76.xml><?xml version="1.0" encoding="utf-8"?>
<p:tagLst xmlns:p="http://schemas.openxmlformats.org/presentationml/2006/main">
  <p:tag name="KSO_WM_DIAGRAM_VIRTUALLY_FRAME" val="{&quot;height&quot;:294.68141732283465,&quot;left&quot;:0,&quot;top&quot;:163.84488188976377,&quot;width&quot;:961.4625196850393}"/>
</p:tagLst>
</file>

<file path=ppt/tags/tag77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78.xml><?xml version="1.0" encoding="utf-8"?>
<p:tagLst xmlns:p="http://schemas.openxmlformats.org/presentationml/2006/main">
  <p:tag name="KSO_WM_DIAGRAM_VIRTUALLY_FRAME" val="{&quot;height&quot;:390.3181102362205,&quot;left&quot;:66,&quot;top&quot;:114.45,&quot;width&quot;:401.4084251968504}"/>
</p:tagLst>
</file>

<file path=ppt/tags/tag79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0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1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2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3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4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5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6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7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8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89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0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1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2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3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4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5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6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7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8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99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100.xml><?xml version="1.0" encoding="utf-8"?>
<p:tagLst xmlns:p="http://schemas.openxmlformats.org/presentationml/2006/main">
  <p:tag name="KSO_WM_DIAGRAM_VIRTUALLY_FRAME" val="{&quot;height&quot;:387.5796062992126,&quot;left&quot;:46.52968503937007,&quot;top&quot;:152.49220472440945,&quot;width&quot;:902.4203149606299}"/>
</p:tagLst>
</file>

<file path=ppt/tags/tag101.xml><?xml version="1.0" encoding="utf-8"?>
<p:tagLst xmlns:p="http://schemas.openxmlformats.org/presentationml/2006/main">
  <p:tag name="resource_record_key" val="{&quot;29&quot;:[50000076]}"/>
</p:tagLst>
</file>

<file path=ppt/theme/theme1.xml><?xml version="1.0" encoding="utf-8"?>
<a:theme xmlns:a="http://schemas.openxmlformats.org/drawingml/2006/main" name="Office 主题​​">
  <a:themeElements>
    <a:clrScheme name="自定义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A90"/>
      </a:accent1>
      <a:accent2>
        <a:srgbClr val="595959"/>
      </a:accent2>
      <a:accent3>
        <a:srgbClr val="A5A5A5"/>
      </a:accent3>
      <a:accent4>
        <a:srgbClr val="595959"/>
      </a:accent4>
      <a:accent5>
        <a:srgbClr val="5B9BD5"/>
      </a:accent5>
      <a:accent6>
        <a:srgbClr val="F2F2F2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华文中宋"/>
        <a:ea typeface=""/>
        <a:cs typeface=""/>
        <a:font script="Jpan" typeface="游ゴシック"/>
        <a:font script="Hang" typeface="맑은 고딕"/>
        <a:font script="Hans" typeface="华文中宋"/>
        <a:font script="Hant" typeface="新細明體"/>
        <a:font script="Arab" typeface="华文中宋"/>
        <a:font script="Hebr" typeface="华文中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中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华文中宋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华文中宋"/>
        <a:font script="Hebr" typeface="华文中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中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华文中宋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华文中宋"/>
        <a:font script="Hebr" typeface="华文中宋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中宋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2619</Words>
  <Application>WPS 演示</Application>
  <PresentationFormat>宽屏</PresentationFormat>
  <Paragraphs>294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华文中宋</vt:lpstr>
      <vt:lpstr>Times New Roman</vt:lpstr>
      <vt:lpstr>微软雅黑</vt:lpstr>
      <vt:lpstr>Arial Unicode MS</vt:lpstr>
      <vt:lpstr>阿里巴巴普惠体 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juziuu</dc:creator>
  <cp:lastModifiedBy>璇</cp:lastModifiedBy>
  <cp:revision>19</cp:revision>
  <dcterms:created xsi:type="dcterms:W3CDTF">2020-12-29T08:59:00Z</dcterms:created>
  <dcterms:modified xsi:type="dcterms:W3CDTF">2025-01-10T03:10:54Z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TemplateUUID">
    <vt:lpwstr>v1.0_mb_IQAJsHyNsTWLtWhpCiwFAw==</vt:lpwstr>
  </property>
  <property fmtid="{D5CDD505-2E9C-101B-9397-08002B2CF9AE}" pid="4" name="ICV">
    <vt:lpwstr>06885BE822624EDBA992A4D3B321EE77_13</vt:lpwstr>
  </property>
</Properties>
</file>